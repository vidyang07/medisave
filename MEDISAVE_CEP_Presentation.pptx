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Ronit Subhedar | ALLOCATED TIME: 1.5 mins</a:t>
            </a:r>
          </a:p>
          <a:p>
            <a:r>
              <a:t>KEY TALKING POINTS:</a:t>
            </a:r>
          </a:p>
          <a:p>
            <a:r>
              <a:t>- Introduce the MEDISAVE project under the Community Engagement Program (CEP).</a:t>
            </a:r>
          </a:p>
          <a:p>
            <a:r>
              <a:t>- Introduce team members from Division SY 2, Batch H2 at PICT Pune.</a:t>
            </a:r>
          </a:p>
          <a:p>
            <a:r>
              <a:t>- Highlight that this project addresses unused household medicines through a structured, verified full-stack platform.</a:t>
            </a:r>
          </a:p>
          <a:p>
            <a:r>
              <a:t>- Emphasize that this is an academic prototype with working software, automated tests, and GitHub repository reference.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Ronit Subhedar | ALLOCATED TIME: 1.5 mins</a:t>
            </a:r>
          </a:p>
          <a:p>
            <a:r>
              <a:t>KEY TALKING POINTS:</a:t>
            </a:r>
          </a:p>
          <a:p>
            <a:r>
              <a:t>- Explain the everyday problem without fabricating macro statistics.</a:t>
            </a:r>
          </a:p>
          <a:p>
            <a:r>
              <a:t>- Contrast household medicine surplus with healthcare affordability for students/families.</a:t>
            </a:r>
          </a:p>
          <a:p>
            <a:r>
              <a:t>- Highlight the 3 technical barriers: Discovery, Safety verification, and Distance/Pricing friction.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Ronit Subhedar | ALLOCATED TIME: 1.5 mins</a:t>
            </a:r>
          </a:p>
          <a:p>
            <a:r>
              <a:t>KEY TALKING POINTS:</a:t>
            </a:r>
          </a:p>
          <a:p>
            <a:r>
              <a:t>- Walk through the 4 core pillars of our Community Engagement Program.</a:t>
            </a:r>
          </a:p>
          <a:p>
            <a:r>
              <a:t>- Emphasize that we balance affordability with safety (mandatory 90-day buffer, prescription checks).</a:t>
            </a:r>
          </a:p>
          <a:p>
            <a:r>
              <a:t>- Clarify that community handover is an intentional design choice for local feasibility.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Ronit Subhedar | ALLOCATED TIME: 1.5 mins</a:t>
            </a:r>
          </a:p>
          <a:p>
            <a:r>
              <a:t>KEY TALKING POINTS:</a:t>
            </a:r>
          </a:p>
          <a:p>
            <a:r>
              <a:t>- Explain the end-to-end 7-step lifecycle of medicine on MEDISAVE.</a:t>
            </a:r>
          </a:p>
          <a:p>
            <a:r>
              <a:t>- Highlight that every listing passes through validation, policy constraints, and coordinator moderation before becoming live.</a:t>
            </a:r>
          </a:p>
          <a:p>
            <a:r>
              <a:t>- Demonstrate how donor, coordinator, and recipient interact seamlessly.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Ronit Subhedar | ALLOCATED TIME: 1.5 mins</a:t>
            </a:r>
          </a:p>
          <a:p>
            <a:r>
              <a:t>KEY TALKING POINTS:</a:t>
            </a:r>
          </a:p>
          <a:p>
            <a:r>
              <a:t>- Walk through the parallel journeys of both primary users.</a:t>
            </a:r>
          </a:p>
          <a:p>
            <a:r>
              <a:t>- Highlight that donors receive immediate pricing guidance and buyers get proximity transparency.</a:t>
            </a:r>
          </a:p>
          <a:p>
            <a:r>
              <a:t>- Conclude Section 1 and hand over to Vidyang Wagh for Locality, Handover &amp; Smart Pricing.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Vidyang Wagh | ALLOCATED TIME: 1.5 mins</a:t>
            </a:r>
          </a:p>
          <a:p>
            <a:r>
              <a:t>KEY TALKING POINTS:</a:t>
            </a:r>
          </a:p>
          <a:p>
            <a:r>
              <a:t>- Directly tackle Judge Question 1 with confidence and honesty.</a:t>
            </a:r>
          </a:p>
          <a:p>
            <a:r>
              <a:t>- Explain that MEDISAVE is a community matching exchange, not a delivery logistics company.</a:t>
            </a:r>
          </a:p>
          <a:p>
            <a:r>
              <a:t>- Show how the deterministic Haversine distance engine classifies Katraj vs Hinjewadi (20.4km distant) vs Katraj vs Bibvewadi (2.1km nearby).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Vidyang Wagh | ALLOCATED TIME: 1.5 mins</a:t>
            </a:r>
          </a:p>
          <a:p>
            <a:r>
              <a:t>KEY TALKING POINTS:</a:t>
            </a:r>
          </a:p>
          <a:p>
            <a:r>
              <a:t>- Clarify the distinction between what is implemented today vs proposed future scope.</a:t>
            </a:r>
          </a:p>
          <a:p>
            <a:r>
              <a:t>- Emphasize the explicit UI notice: MEDISAVE does not operate a delivery fleet.</a:t>
            </a:r>
          </a:p>
          <a:p>
            <a:r>
              <a:t>- Explain campus collection hubs as a practical pilot mechanism for college environments.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Vidyang Wagh | ALLOCATED TIME: 1.5 mins</a:t>
            </a:r>
          </a:p>
          <a:p>
            <a:r>
              <a:t>KEY TALKING POINTS:</a:t>
            </a:r>
          </a:p>
          <a:p>
            <a:r>
              <a:t>- Introduce the second major question: 'How is the medicine price decided?'</a:t>
            </a:r>
          </a:p>
          <a:p>
            <a:r>
              <a:t>- Explain why neither free-market seller pricing nor pure AI generation is acceptable for medicine exchange.</a:t>
            </a:r>
          </a:p>
          <a:p>
            <a:r>
              <a:t>- Introduce the MEDISAVE deterministic formula grounded in physical printed MRP.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Vidyang Wagh | ALLOCATED TIME: 1.5 mins</a:t>
            </a:r>
          </a:p>
          <a:p>
            <a:r>
              <a:t>KEY TALKING POINTS:</a:t>
            </a:r>
          </a:p>
          <a:p>
            <a:r>
              <a:t>- Highlight the mathematical brackets implemented in pricingService.js.</a:t>
            </a:r>
          </a:p>
          <a:p>
            <a:r>
              <a:t>- Explain that &lt;90 day medicines are rejected automatically for patient safety.</a:t>
            </a:r>
          </a:p>
          <a:p>
            <a:r>
              <a:t>- Mention the server-side 85% price cap that prevents profiteering on donated goods.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Vidyang Wagh | ALLOCATED TIME: 1.5 mins</a:t>
            </a:r>
          </a:p>
          <a:p>
            <a:r>
              <a:t>KEY TALKING POINTS:</a:t>
            </a:r>
          </a:p>
          <a:p>
            <a:r>
              <a:t>- Explain OpenRouter integration in aiMedicineService.js.</a:t>
            </a:r>
          </a:p>
          <a:p>
            <a:r>
              <a:t>- Walk through the Dolo 650 example.</a:t>
            </a:r>
          </a:p>
          <a:p>
            <a:r>
              <a:t>- Reiterate clearly: AI assists with metadata normalization, but physical printed MRP entered by seller is authoritative.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Vidyang Wagh | ALLOCATED TIME: 1.5 mins</a:t>
            </a:r>
          </a:p>
          <a:p>
            <a:r>
              <a:t>KEY TALKING POINTS:</a:t>
            </a:r>
          </a:p>
          <a:p>
            <a:r>
              <a:t>- Answer Judge Question 3: AI is an assistant, not an authority.</a:t>
            </a:r>
          </a:p>
          <a:p>
            <a:r>
              <a:t>- Explain the offline fallback knowledge base containing Dolo 650, Augmentin, Pantocid 40, Pan-D, etc.</a:t>
            </a:r>
          </a:p>
          <a:p>
            <a:r>
              <a:t>- Conclude Section 2 and hand over to Darshan Solanke for Prescription &amp; Security.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Darshan Solanke | ALLOCATED TIME: 1.5 mins</a:t>
            </a:r>
          </a:p>
          <a:p>
            <a:r>
              <a:t>KEY TALKING POINTS:</a:t>
            </a:r>
          </a:p>
          <a:p>
            <a:r>
              <a:t>- Answer Judge Question 4 regarding prescription compliance.</a:t>
            </a:r>
          </a:p>
          <a:p>
            <a:r>
              <a:t>- Explain the 4-step workflow: Requirement detection, Upload, Coordinator audit, and Checkout unlocking.</a:t>
            </a:r>
          </a:p>
          <a:p>
            <a:r>
              <a:t>- Mention multi-format upload (PDF/JPG/PNG &lt;= 5MB) and private streaming.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Darshan Solanke | ALLOCATED TIME: 1.5 mins</a:t>
            </a:r>
          </a:p>
          <a:p>
            <a:r>
              <a:t>KEY TALKING POINTS:</a:t>
            </a:r>
          </a:p>
          <a:p>
            <a:r>
              <a:t>- Walk through the 3 security pillars verified in our automated test suite.</a:t>
            </a:r>
          </a:p>
          <a:p>
            <a:r>
              <a:t>- Explain IDOR protection: User A cannot read or stream User B's medical documents.</a:t>
            </a:r>
          </a:p>
          <a:p>
            <a:r>
              <a:t>- Emphasize that all pricing, prescription checks, and stock decrements are validated server-side.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Darshan Solanke | ALLOCATED TIME: 1.5 mins</a:t>
            </a:r>
          </a:p>
          <a:p>
            <a:r>
              <a:t>KEY TALKING POINTS:</a:t>
            </a:r>
          </a:p>
          <a:p>
            <a:r>
              <a:t>- Answer Judge Question 5 on fake/unsafe listing prevention.</a:t>
            </a:r>
          </a:p>
          <a:p>
            <a:r>
              <a:t>- Explain that listings default to 'pending' and are hidden from buyers until coordinator audit.</a:t>
            </a:r>
          </a:p>
          <a:p>
            <a:r>
              <a:t>- Mention the admin prescription queue and transaction oversight tools.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Darshan Solanke | ALLOCATED TIME: 1.5 mins</a:t>
            </a:r>
          </a:p>
          <a:p>
            <a:r>
              <a:t>KEY TALKING POINTS:</a:t>
            </a:r>
          </a:p>
          <a:p>
            <a:r>
              <a:t>- Explain the clean MERN stack architecture.</a:t>
            </a:r>
          </a:p>
          <a:p>
            <a:r>
              <a:t>- Highlight that all code is modularized into routes, controllers, services, models, and middleware.</a:t>
            </a:r>
          </a:p>
          <a:p>
            <a:r>
              <a:t>- Conclude Section 3 and hand over to Sumukh Bhat for Testing, Scalability &amp; Demo.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Sumukh Bhat | ALLOCATED TIME: 1.5 mins</a:t>
            </a:r>
          </a:p>
          <a:p>
            <a:r>
              <a:t>KEY TALKING POINTS:</a:t>
            </a:r>
          </a:p>
          <a:p>
            <a:r>
              <a:t>- Present the exact verified testing numbers without inflation.</a:t>
            </a:r>
          </a:p>
          <a:p>
            <a:r>
              <a:t>- Highlight that 369 automated assertions across 12 test suites passed with 100% success.</a:t>
            </a:r>
          </a:p>
          <a:p>
            <a:r>
              <a:t>- Mention frontend ESLint clean and fast 516ms production build.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Sumukh Bhat | ALLOCATED TIME: 1.5 mins</a:t>
            </a:r>
          </a:p>
          <a:p>
            <a:r>
              <a:t>KEY TALKING POINTS:</a:t>
            </a:r>
          </a:p>
          <a:p>
            <a:r>
              <a:t>- Be completely transparent about project boundaries with the evaluation committee.</a:t>
            </a:r>
          </a:p>
          <a:p>
            <a:r>
              <a:t>- Explain that acknowledging limitations shows mature engineering judgment.</a:t>
            </a:r>
          </a:p>
          <a:p>
            <a:r>
              <a:t>- Emphasize the intentional exclusion of cold-chain drugs and the prototype status.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Sumukh Bhat | ALLOCATED TIME: 1.5 mins</a:t>
            </a:r>
          </a:p>
          <a:p>
            <a:r>
              <a:t>KEY TALKING POINTS:</a:t>
            </a:r>
          </a:p>
          <a:p>
            <a:r>
              <a:t>- Answer Judge Question 6 regarding system scalability.</a:t>
            </a:r>
          </a:p>
          <a:p>
            <a:r>
              <a:t>- Compare current stateless architecture with future enterprise enhancements (S3, Redis, OCR).</a:t>
            </a:r>
          </a:p>
          <a:p>
            <a:r>
              <a:t>- Clearly separate what is implemented today from future scope.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Sumukh Bhat | ALLOCATED TIME: 1.5 mins</a:t>
            </a:r>
          </a:p>
          <a:p>
            <a:r>
              <a:t>KEY TALKING POINTS:</a:t>
            </a:r>
          </a:p>
          <a:p>
            <a:r>
              <a:t>- Answer Judge Question 7: Who benefits from MEDISAVE?</a:t>
            </a:r>
          </a:p>
          <a:p>
            <a:r>
              <a:t>- Walk through the 4 stakeholders: Donors, Recipients, Coordinators, and Community/Campus.</a:t>
            </a:r>
          </a:p>
          <a:p>
            <a:r>
              <a:t>- Highlight the environmental benefit of reducing pharmaceutical waste.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Sumukh Bhat | ALLOCATED TIME: 1.5 mins</a:t>
            </a:r>
          </a:p>
          <a:p>
            <a:r>
              <a:t>KEY TALKING POINTS:</a:t>
            </a:r>
          </a:p>
          <a:p>
            <a:r>
              <a:t>- Guide the committee through the live demonstration sequence.</a:t>
            </a:r>
          </a:p>
          <a:p>
            <a:r>
              <a:t>- Demonstrate the 4 core highlights: AI autofill, Coordinator approval, Proximity sorting, and Handover checkout.</a:t>
            </a:r>
          </a:p>
          <a:p>
            <a:r>
              <a:t>- Ensure transitions between screens are smooth.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Sumukh Bhat | ALLOCATED TIME: 1.5 mins</a:t>
            </a:r>
          </a:p>
          <a:p>
            <a:r>
              <a:t>KEY TALKING POINTS:</a:t>
            </a:r>
          </a:p>
          <a:p>
            <a:r>
              <a:t>- Deliver the final concluding remarks.</a:t>
            </a:r>
          </a:p>
          <a:p>
            <a:r>
              <a:t>- Reiterate the core achievement: Discovery, Verification, Transparent Pricing, and Local Handover.</a:t>
            </a:r>
          </a:p>
          <a:p>
            <a:r>
              <a:t>- Thank the evaluation committee and open the floor for questions.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All Team Members | ALLOCATED TIME: Reference</a:t>
            </a:r>
          </a:p>
          <a:p>
            <a:r>
              <a:t>KEY TALKING POINTS:</a:t>
            </a:r>
          </a:p>
          <a:p>
            <a:r>
              <a:t>- Keep this slide ready during the Q&amp;A session.</a:t>
            </a:r>
          </a:p>
          <a:p>
            <a:r>
              <a:t>- Each team member can reference the exact technical policy when answering faculty questions.</a:t>
            </a:r>
          </a:p>
          <a:p>
            <a:r>
              <a:t>- Maintain confidence and strict adherence to actual implementation.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365760"/>
          </a:xfrm>
          <a:prstGeom prst="roundRect">
            <a:avLst/>
          </a:prstGeom>
          <a:solidFill>
            <a:srgbClr val="E8F3F1"/>
          </a:solidFill>
          <a:ln w="12700">
            <a:solidFill>
              <a:srgbClr val="0F4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950" b="1">
                <a:solidFill>
                  <a:srgbClr val="0F4C42"/>
                </a:solidFill>
                <a:latin typeface="Segoe UI"/>
              </a:defRPr>
            </a:pPr>
            <a:r>
              <a:t>COMMUNITY ENGAGEMENT PROGRAM (CEP)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F4C42"/>
                </a:solidFill>
                <a:latin typeface="Segoe UI"/>
              </a:defRPr>
            </a:pPr>
            <a:r>
              <a:t>MEDISAVE</a:t>
            </a:r>
          </a:p>
          <a:p>
            <a:pPr>
              <a:spcBef>
                <a:spcPts val="400"/>
              </a:spcBef>
              <a:defRPr sz="1700" b="1">
                <a:solidFill>
                  <a:srgbClr val="171717"/>
                </a:solidFill>
                <a:latin typeface="Segoe UI"/>
              </a:defRPr>
            </a:pPr>
            <a:r>
              <a:t>Verified Community Medicine Exchange &amp; Redistribution Platform</a:t>
            </a:r>
          </a:p>
          <a:p>
            <a:pPr>
              <a:spcBef>
                <a:spcPts val="600"/>
              </a:spcBef>
              <a:defRPr sz="1100">
                <a:solidFill>
                  <a:srgbClr val="5A5A5A"/>
                </a:solidFill>
                <a:latin typeface="Segoe UI"/>
              </a:defRPr>
            </a:pPr>
            <a:r>
              <a:t>A full-stack web application designed for proximity-aware medicine discovery, deterministic fair pricing, and coordinator-supervised Schedule H prescription compliance.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474720"/>
            <a:ext cx="2377440" cy="1645920"/>
          </a:xfrm>
          <a:prstGeom prst="roundRect">
            <a:avLst/>
          </a:prstGeom>
          <a:solidFill>
            <a:srgbClr val="E8F3F1"/>
          </a:solidFill>
          <a:ln w="12700">
            <a:solidFill>
              <a:srgbClr val="0F4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36118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4C42"/>
                </a:solidFill>
                <a:latin typeface="Segoe UI"/>
              </a:defRPr>
            </a:pPr>
            <a:r>
              <a:t>Ronit Subhedar</a:t>
            </a:r>
          </a:p>
          <a:p>
            <a:pPr>
              <a:spcBef>
                <a:spcPts val="200"/>
              </a:spcBef>
              <a:defRPr sz="1000" b="1">
                <a:solidFill>
                  <a:srgbClr val="171717"/>
                </a:solidFill>
                <a:latin typeface="Segoe UI"/>
              </a:defRPr>
            </a:pPr>
            <a:r>
              <a:t>Roll No. 21270</a:t>
            </a:r>
          </a:p>
          <a:p>
            <a:pPr>
              <a:spcBef>
                <a:spcPts val="400"/>
              </a:spcBef>
              <a:defRPr sz="900">
                <a:solidFill>
                  <a:srgbClr val="5A5A5A"/>
                </a:solidFill>
                <a:latin typeface="Segoe UI"/>
              </a:defRPr>
            </a:pPr>
            <a:r>
              <a:t>Focus: Problem Context &amp;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3474720"/>
            <a:ext cx="2377440" cy="1645920"/>
          </a:xfrm>
          <a:prstGeom prst="roundRect">
            <a:avLst/>
          </a:prstGeom>
          <a:solidFill>
            <a:srgbClr val="E8F3F1"/>
          </a:solidFill>
          <a:ln w="12700">
            <a:solidFill>
              <a:srgbClr val="0F4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36118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4C42"/>
                </a:solidFill>
                <a:latin typeface="Segoe UI"/>
              </a:defRPr>
            </a:pPr>
            <a:r>
              <a:t>Vidyang Wagh</a:t>
            </a:r>
          </a:p>
          <a:p>
            <a:pPr>
              <a:spcBef>
                <a:spcPts val="200"/>
              </a:spcBef>
              <a:defRPr sz="1000" b="1">
                <a:solidFill>
                  <a:srgbClr val="171717"/>
                </a:solidFill>
                <a:latin typeface="Segoe UI"/>
              </a:defRPr>
            </a:pPr>
            <a:r>
              <a:t>Roll No. 21282</a:t>
            </a:r>
          </a:p>
          <a:p>
            <a:pPr>
              <a:spcBef>
                <a:spcPts val="400"/>
              </a:spcBef>
              <a:defRPr sz="900">
                <a:solidFill>
                  <a:srgbClr val="5A5A5A"/>
                </a:solidFill>
                <a:latin typeface="Segoe UI"/>
              </a:defRPr>
            </a:pPr>
            <a:r>
              <a:t>Focus: Locality, Handover &amp; AI Pricing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474720"/>
            <a:ext cx="2377440" cy="1645920"/>
          </a:xfrm>
          <a:prstGeom prst="roundRect">
            <a:avLst/>
          </a:prstGeom>
          <a:solidFill>
            <a:srgbClr val="E8F3F1"/>
          </a:solidFill>
          <a:ln w="12700">
            <a:solidFill>
              <a:srgbClr val="0F4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36118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4C42"/>
                </a:solidFill>
                <a:latin typeface="Segoe UI"/>
              </a:defRPr>
            </a:pPr>
            <a:r>
              <a:t>Darshan Solanke</a:t>
            </a:r>
          </a:p>
          <a:p>
            <a:pPr>
              <a:spcBef>
                <a:spcPts val="200"/>
              </a:spcBef>
              <a:defRPr sz="1000" b="1">
                <a:solidFill>
                  <a:srgbClr val="171717"/>
                </a:solidFill>
                <a:latin typeface="Segoe UI"/>
              </a:defRPr>
            </a:pPr>
            <a:r>
              <a:t>Roll No. 21269</a:t>
            </a:r>
          </a:p>
          <a:p>
            <a:pPr>
              <a:spcBef>
                <a:spcPts val="400"/>
              </a:spcBef>
              <a:defRPr sz="900">
                <a:solidFill>
                  <a:srgbClr val="5A5A5A"/>
                </a:solidFill>
                <a:latin typeface="Segoe UI"/>
              </a:defRPr>
            </a:pPr>
            <a:r>
              <a:t>Focus: Prescription &amp; Security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3474720"/>
            <a:ext cx="2377440" cy="1645920"/>
          </a:xfrm>
          <a:prstGeom prst="roundRect">
            <a:avLst/>
          </a:prstGeom>
          <a:solidFill>
            <a:srgbClr val="E8F3F1"/>
          </a:solidFill>
          <a:ln w="12700">
            <a:solidFill>
              <a:srgbClr val="0F4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36118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4C42"/>
                </a:solidFill>
                <a:latin typeface="Segoe UI"/>
              </a:defRPr>
            </a:pPr>
            <a:r>
              <a:t>Sumukh Bhat</a:t>
            </a:r>
          </a:p>
          <a:p>
            <a:pPr>
              <a:spcBef>
                <a:spcPts val="200"/>
              </a:spcBef>
              <a:defRPr sz="1000" b="1">
                <a:solidFill>
                  <a:srgbClr val="171717"/>
                </a:solidFill>
                <a:latin typeface="Segoe UI"/>
              </a:defRPr>
            </a:pPr>
            <a:r>
              <a:t>Roll No. 21271</a:t>
            </a:r>
          </a:p>
          <a:p>
            <a:pPr>
              <a:spcBef>
                <a:spcPts val="400"/>
              </a:spcBef>
              <a:defRPr sz="900">
                <a:solidFill>
                  <a:srgbClr val="5A5A5A"/>
                </a:solidFill>
                <a:latin typeface="Segoe UI"/>
              </a:defRPr>
            </a:pPr>
            <a:r>
              <a:t>Focus: Testing, Scalability &amp;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303520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A5A5A"/>
                </a:solidFill>
                <a:latin typeface="Segoe UI"/>
              </a:defRPr>
            </a:pPr>
            <a:r>
              <a:t>Department of Computer Engineering  •  Pune Institute of Computer Technology (PICT)  |  Division: SY 2  •  Batch: H2  |  GitHub: github.com/Vidyang07/medisave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Segoe UI"/>
              </a:defRPr>
            </a:pPr>
            <a:r>
              <a:t>MEDISAVE  •  Community Engagement Program (CEP)  •  PICT Pune  |  Slide 1 of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F4C42"/>
                </a:solidFill>
                <a:latin typeface="Segoe UI"/>
              </a:defRPr>
            </a:pPr>
            <a:r>
              <a:t>PROBLEM CONTEXT  •  Speaker: Ronit Subhedar</a:t>
            </a:r>
          </a:p>
          <a:p>
            <a:pPr>
              <a:defRPr sz="2200" b="1">
                <a:solidFill>
                  <a:srgbClr val="171717"/>
                </a:solidFill>
                <a:latin typeface="Segoe UI"/>
              </a:defRPr>
            </a:pPr>
            <a:r>
              <a:t>The Real-World Community Medicine Dilemma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4846320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The Common Household Scenario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Everyday medicine wastage in urban communities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71717"/>
                </a:solidFill>
                <a:latin typeface="Segoe UI"/>
              </a:defRPr>
            </a:pPr>
            <a:r>
              <a:t>•  A student or family completes a doctor-prescribed treatment course with 10–15 unexpired, sealed blister tablets remaining.</a:t>
            </a:r>
          </a:p>
          <a:p>
            <a:pPr>
              <a:spcAft>
                <a:spcPts val="800"/>
              </a:spcAft>
              <a:defRPr sz="1050">
                <a:solidFill>
                  <a:srgbClr val="171717"/>
                </a:solidFill>
                <a:latin typeface="Segoe UI"/>
              </a:defRPr>
            </a:pPr>
            <a:r>
              <a:t>•  These unexpired medicines sit in home medicine cabinets until they pass their expiration date and are eventually thrown into trash.</a:t>
            </a:r>
          </a:p>
          <a:p>
            <a:pPr>
              <a:spcAft>
                <a:spcPts val="800"/>
              </a:spcAft>
              <a:defRPr sz="1050">
                <a:solidFill>
                  <a:srgbClr val="171717"/>
                </a:solidFill>
                <a:latin typeface="Segoe UI"/>
              </a:defRPr>
            </a:pPr>
            <a:r>
              <a:t>•  Simultaneously, a neighboring student or low-income community member is prescribed the exact same formulation and pays full retail price.</a:t>
            </a:r>
          </a:p>
          <a:p>
            <a:pPr>
              <a:spcAft>
                <a:spcPts val="800"/>
              </a:spcAft>
              <a:defRPr sz="1050">
                <a:solidFill>
                  <a:srgbClr val="171717"/>
                </a:solidFill>
                <a:latin typeface="Segoe UI"/>
              </a:defRPr>
            </a:pPr>
            <a:r>
              <a:t>•  Traditional e-commerce platforms cannot legally or safely facilitate peer-to-peer exchanges without strict compliance mechanisms.</a:t>
            </a:r>
          </a:p>
          <a:p>
            <a:pPr>
              <a:spcAft>
                <a:spcPts val="800"/>
              </a:spcAft>
              <a:defRPr sz="1050">
                <a:solidFill>
                  <a:srgbClr val="171717"/>
                </a:solidFill>
                <a:latin typeface="Segoe UI"/>
              </a:defRPr>
            </a:pPr>
            <a:r>
              <a:t>•  Direct physical exchanges without verification pose severe safety, shelf-life, and prescription misuse risks.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1463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36192"/>
            <a:ext cx="4846320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Fragmented Discovery &amp; Verification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Community members have no trusted directory to identify who holds unexpired surplus medications nearby.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71800"/>
            <a:ext cx="5212080" cy="146304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136392"/>
            <a:ext cx="4846320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Safety, Shelf Life &amp; Quality Concerns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Physical blister seals, batch authenticity, and minimum expiration buffers must be audited before handover.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572000"/>
            <a:ext cx="5212080" cy="1463040"/>
          </a:xfrm>
          <a:prstGeom prst="roundRect">
            <a:avLst/>
          </a:prstGeom>
          <a:solidFill>
            <a:srgbClr val="E8F3F1"/>
          </a:solidFill>
          <a:ln w="12700">
            <a:solidFill>
              <a:srgbClr val="0F4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736592"/>
            <a:ext cx="4846320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Geographic Friction &amp; Pricing Confusion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Distant transfers across large metro areas (e.g. Katraj to Hinjewadi) are unfeasible without locality awareness.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Segoe UI"/>
              </a:defRPr>
            </a:pPr>
            <a:r>
              <a:t>MEDISAVE  •  Community Engagement Program (CEP)  •  PICT Pune  |  Slide 2 of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F4C42"/>
                </a:solidFill>
                <a:latin typeface="Segoe UI"/>
              </a:defRPr>
            </a:pPr>
            <a:r>
              <a:t>PROJECT OBJECTIVES  •  Speaker: Ronit Subhedar</a:t>
            </a:r>
          </a:p>
          <a:p>
            <a:pPr>
              <a:defRPr sz="2200" b="1">
                <a:solidFill>
                  <a:srgbClr val="171717"/>
                </a:solidFill>
                <a:latin typeface="Segoe UI"/>
              </a:defRPr>
            </a:pPr>
            <a:r>
              <a:t>Our Community Engagement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57800" cy="22402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489204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Objective 1: Reduce Medicine Wastage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Provide a responsible, structured mechanism to redistribute unopened, unexpired surplus medicines before they reach expiration.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8920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Min. 90-day expiry buffer mandatory</a:t>
            </a:r>
          </a:p>
          <a:p>
            <a:pPr>
              <a:spcAft>
                <a:spcPts val="4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Intact factory sealed blister foils only</a:t>
            </a:r>
          </a:p>
          <a:p>
            <a:pPr>
              <a:spcAft>
                <a:spcPts val="4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No cut strips or unsealed syrups allowed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257800" cy="2240280"/>
          </a:xfrm>
          <a:prstGeom prst="roundRect">
            <a:avLst/>
          </a:prstGeom>
          <a:solidFill>
            <a:srgbClr val="E8F3F1"/>
          </a:solidFill>
          <a:ln w="12700">
            <a:solidFill>
              <a:srgbClr val="0F4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36192"/>
            <a:ext cx="489204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Objective 2: Ensure Transparent Non-Profit Pricing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Eliminate price gouging by deriving suggested community prices strictly from printed MRP, shelf life, and condition.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286000"/>
            <a:ext cx="48920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Deterministic shelf-life bracket formula</a:t>
            </a:r>
          </a:p>
          <a:p>
            <a:pPr>
              <a:spcAft>
                <a:spcPts val="4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Authoritative printed MRP ground truth</a:t>
            </a:r>
          </a:p>
          <a:p>
            <a:pPr>
              <a:spcAft>
                <a:spcPts val="4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Server-enforced 85% maximum price cap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94760"/>
            <a:ext cx="5257800" cy="2240280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59352"/>
            <a:ext cx="489204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Objective 3: Enforce Prescription Verification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Mandate coordinator review for Schedule H/H1 drugs so prescription regulations are respected.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48920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Secure PDF/JPG/PNG document upload</a:t>
            </a:r>
          </a:p>
          <a:p>
            <a:pPr>
              <a:spcAft>
                <a:spcPts val="4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Private authenticated document streaming</a:t>
            </a:r>
          </a:p>
          <a:p>
            <a:pPr>
              <a:spcAft>
                <a:spcPts val="4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Doctor registration check before checkout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94760"/>
            <a:ext cx="5257800" cy="22402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59352"/>
            <a:ext cx="489204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Objective 4: Enable Proximity-Aware Local Handover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Match buyers and donors within practical walking/metro handover zones rather than promising unrealistic courier delivery.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709160"/>
            <a:ext cx="48920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Haversine distance calculation (0–5 km nearby)</a:t>
            </a:r>
          </a:p>
          <a:p>
            <a:pPr>
              <a:spcAft>
                <a:spcPts val="4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Designated public landmarks (Campus Gates)</a:t>
            </a:r>
          </a:p>
          <a:p>
            <a:pPr>
              <a:spcAft>
                <a:spcPts val="4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Clear non-logistics community disclaimer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Segoe UI"/>
              </a:defRPr>
            </a:pPr>
            <a:r>
              <a:t>MEDISAVE  •  Community Engagement Program (CEP)  •  PICT Pune  |  Slide 3 of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F4C42"/>
                </a:solidFill>
                <a:latin typeface="Segoe UI"/>
              </a:defRPr>
            </a:pPr>
            <a:r>
              <a:t>PROPOSED SOLUTION  •  Speaker: Ronit Subhedar</a:t>
            </a:r>
          </a:p>
          <a:p>
            <a:pPr>
              <a:defRPr sz="2200" b="1">
                <a:solidFill>
                  <a:srgbClr val="171717"/>
                </a:solidFill>
                <a:latin typeface="Segoe UI"/>
              </a:defRPr>
            </a:pPr>
            <a:r>
              <a:t>The MEDISAVE Ecosystem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417320" cy="4754880"/>
          </a:xfrm>
          <a:prstGeom prst="roundRect">
            <a:avLst/>
          </a:prstGeom>
          <a:solidFill>
            <a:srgbClr val="E8F3F1"/>
          </a:solidFill>
          <a:ln w="12700">
            <a:solidFill>
              <a:srgbClr val="E4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1051560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1. Donor Listing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Seller inputs medicine name, batch, printed MRP &amp; locality.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371600"/>
            <a:ext cx="1417320" cy="4754880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E4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1536192"/>
            <a:ext cx="1051560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2. AI Assistance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OpenRouter assists with salt, form &amp; baseline estimate.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1371600"/>
            <a:ext cx="1417320" cy="4754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4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1536192"/>
            <a:ext cx="1051560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3. Policy Engine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Deterministic formula calculates community price &amp; 85% cap.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59" y="1371600"/>
            <a:ext cx="1417320" cy="47548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4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39" y="1536192"/>
            <a:ext cx="1051560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4. Coordinator Review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Admin inspects packaging, expiry &amp; approves listing.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1371600"/>
            <a:ext cx="1417320" cy="4754880"/>
          </a:xfrm>
          <a:prstGeom prst="roundRect">
            <a:avLst/>
          </a:prstGeom>
          <a:solidFill>
            <a:srgbClr val="E8F3F1"/>
          </a:solidFill>
          <a:ln w="12700">
            <a:solidFill>
              <a:srgbClr val="E4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1536192"/>
            <a:ext cx="1051560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5. Proximity Match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Marketplace sorts listings by Haversine distance for buyer.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1371600"/>
            <a:ext cx="1417320" cy="4754880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E4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1536192"/>
            <a:ext cx="1051560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6. Prescription Audit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Buyer uploads Rx; coordinator verifies before checkout.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1371600"/>
            <a:ext cx="1417320" cy="4754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4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0" y="1536192"/>
            <a:ext cx="1051560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7. Order &amp; Handover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Mutual agreement on campus/public handover point.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Segoe UI"/>
              </a:defRPr>
            </a:pPr>
            <a:r>
              <a:t>MEDISAVE  •  Community Engagement Program (CEP)  •  PICT Pune  |  Slide 4 of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F4C42"/>
                </a:solidFill>
                <a:latin typeface="Segoe UI"/>
              </a:defRPr>
            </a:pPr>
            <a:r>
              <a:t>USER EXPERIENCE  •  Speaker: Ronit Subhedar</a:t>
            </a:r>
          </a:p>
          <a:p>
            <a:pPr>
              <a:defRPr sz="2200" b="1">
                <a:solidFill>
                  <a:srgbClr val="171717"/>
                </a:solidFill>
                <a:latin typeface="Segoe UI"/>
              </a:defRPr>
            </a:pPr>
            <a:r>
              <a:t>Dual Stakeholder User Journeys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4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4846320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Donor / Seller Journey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Listing surplus unexpired medicines responsibly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Account Setup: Registers verified profile with Pune locality (e.g. Katraj) and contact number.</a:t>
            </a:r>
          </a:p>
          <a:p>
            <a:pPr>
              <a:spcAft>
                <a:spcPts val="8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Medicine Entry: Inputs medicine brand; AI autofills salt, manufacturer, and dosage form.</a:t>
            </a:r>
          </a:p>
          <a:p>
            <a:pPr>
              <a:spcAft>
                <a:spcPts val="8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Printed MRP Ground Truth: Inputs physical box MRP, packaging condition, and batch number.</a:t>
            </a:r>
          </a:p>
          <a:p>
            <a:pPr>
              <a:spcAft>
                <a:spcPts val="8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Policy Confirmation: Reviews suggested community price &amp; rationale; applies 1-click pricing.</a:t>
            </a:r>
          </a:p>
          <a:p>
            <a:pPr>
              <a:spcAft>
                <a:spcPts val="8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Handover Point Setup: Selects preferred public point (e.g. College Gate) and radius (5 km).</a:t>
            </a:r>
          </a:p>
          <a:p>
            <a:pPr>
              <a:spcAft>
                <a:spcPts val="8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Fulfillment: Receives order notification and confirms physical handover with recipient.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36192"/>
            <a:ext cx="4846320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Recipient / Buyer Journey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Discovering &amp; acquiring verified affordable medicines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Locality Discovery: Selects current Pune locality (e.g. Hinjewadi or Kothrud).</a:t>
            </a:r>
          </a:p>
          <a:p>
            <a:pPr>
              <a:spcAft>
                <a:spcPts val="8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Nearby First Sorting: Browses verified listings sorted by proximity with distance badges.</a:t>
            </a:r>
          </a:p>
          <a:p>
            <a:pPr>
              <a:spcAft>
                <a:spcPts val="8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Inspection &amp; Details: Reviews packaging condition, remaining shelf life, and pricing rationale.</a:t>
            </a:r>
          </a:p>
          <a:p>
            <a:pPr>
              <a:spcAft>
                <a:spcPts val="8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Prescription Upload: For Schedule H items, attaches approved prescription or uploads new one.</a:t>
            </a:r>
          </a:p>
          <a:p>
            <a:pPr>
              <a:spcAft>
                <a:spcPts val="8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Multi-Seller Cart: Combines items from multiple donors into a single consolidated checkout.</a:t>
            </a:r>
          </a:p>
          <a:p>
            <a:pPr>
              <a:spcAft>
                <a:spcPts val="8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Handover Selection: Chooses 'Agreed Public Point' and coordinates in-person exchange.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Segoe UI"/>
              </a:defRPr>
            </a:pPr>
            <a:r>
              <a:t>MEDISAVE  •  Community Engagement Program (CEP)  •  PICT Pune  |  Slide 5 of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F4C42"/>
                </a:solidFill>
                <a:latin typeface="Segoe UI"/>
              </a:defRPr>
            </a:pPr>
            <a:r>
              <a:t>LOCALITY &amp; HANDOVER  •  Speaker: Vidyang Wagh</a:t>
            </a:r>
          </a:p>
          <a:p>
            <a:pPr>
              <a:defRPr sz="2200" b="1">
                <a:solidFill>
                  <a:srgbClr val="171717"/>
                </a:solidFill>
                <a:latin typeface="Segoe UI"/>
              </a:defRPr>
            </a:pPr>
            <a:r>
              <a:t>Addressing the Long-Distance Problem: Katraj vs Hinjewadi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728655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90472"/>
            <a:ext cx="10362895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Core Judge Question Answered: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If a donor is in Katraj and a recipient is in Hinjewadi, how does MEDISAVE deliver the medicine?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5212080" cy="365760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79192"/>
            <a:ext cx="4846320" cy="3328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The Long-Distance Reality (Katraj ↔ Hinjewadi)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Cross-city transfers are unfeasible for informal peer exchange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484632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Physical Distance: ~20.4 km across Pune metropolitan traffic.</a:t>
            </a:r>
          </a:p>
          <a:p>
            <a:pPr>
              <a:spcAft>
                <a:spcPts val="6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Platform Classification: 'Far from you · 20.4 km' proximity badge.</a:t>
            </a:r>
          </a:p>
          <a:p>
            <a:pPr>
              <a:spcAft>
                <a:spcPts val="6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Marketplace Behavior: Deprioritized in search results when buyer is in Hinjewadi.</a:t>
            </a:r>
          </a:p>
          <a:p>
            <a:pPr>
              <a:spcAft>
                <a:spcPts val="6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Intentional Design Choice: MEDISAVE does NOT operate a city-wide courier fleet.</a:t>
            </a:r>
          </a:p>
          <a:p>
            <a:pPr>
              <a:spcAft>
                <a:spcPts val="6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Avoids Inefficient Exchanges: Alerts users to long travel distances before ordering.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514600"/>
            <a:ext cx="5212080" cy="36576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679192"/>
            <a:ext cx="4846320" cy="3328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The Local Community Model (Katraj ↔ Bibvewadi)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Proximity-aware discovery enables practical local handover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154680"/>
            <a:ext cx="484632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Physical Distance: ~2.1 km (walking/short transit distance).</a:t>
            </a:r>
          </a:p>
          <a:p>
            <a:pPr>
              <a:spcAft>
                <a:spcPts val="6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Platform Classification: 'Nearby · 2.1 km' high-priority badge.</a:t>
            </a:r>
          </a:p>
          <a:p>
            <a:pPr>
              <a:spcAft>
                <a:spcPts val="6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Marketplace Behavior: Ranked at top under 'Nearby First' sorting.</a:t>
            </a:r>
          </a:p>
          <a:p>
            <a:pPr>
              <a:spcAft>
                <a:spcPts val="6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Convenient Handover: Exchange at Bharati Vidyapeeth Campus Gate or Vanaz Metro.</a:t>
            </a:r>
          </a:p>
          <a:p>
            <a:pPr>
              <a:spcAft>
                <a:spcPts val="6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Mathematical Model: Deterministic Spherical Haversine distance on pre-mapped Pune coordinates.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Segoe UI"/>
              </a:defRPr>
            </a:pPr>
            <a:r>
              <a:t>MEDISAVE  •  Community Engagement Program (CEP)  •  PICT Pune  |  Slide 6 of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F4C42"/>
                </a:solidFill>
                <a:latin typeface="Segoe UI"/>
              </a:defRPr>
            </a:pPr>
            <a:r>
              <a:t>FULFILLMENT ARCHITECTURE  •  Speaker: Vidyang Wagh</a:t>
            </a:r>
          </a:p>
          <a:p>
            <a:pPr>
              <a:defRPr sz="2200" b="1">
                <a:solidFill>
                  <a:srgbClr val="171717"/>
                </a:solidFill>
                <a:latin typeface="Segoe UI"/>
              </a:defRPr>
            </a:pPr>
            <a:r>
              <a:t>Community Handover &amp; Fulfillment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E8F3F1"/>
          </a:solidFill>
          <a:ln w="12700">
            <a:solidFill>
              <a:srgbClr val="0F4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4846320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Implemented Community Handover (MVP)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Practical peer coordination without third-party logistics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71717"/>
                </a:solidFill>
                <a:latin typeface="Segoe UI"/>
              </a:defRPr>
            </a:pPr>
            <a:r>
              <a:t>•  Designated Public Points: Handover at verified campus gates, metro stations, or community centers.</a:t>
            </a:r>
          </a:p>
          <a:p>
            <a:pPr>
              <a:spcAft>
                <a:spcPts val="800"/>
              </a:spcAft>
              <a:defRPr sz="1050">
                <a:solidFill>
                  <a:srgbClr val="171717"/>
                </a:solidFill>
                <a:latin typeface="Segoe UI"/>
              </a:defRPr>
            </a:pPr>
            <a:r>
              <a:t>•  Proximity Radius: Donors set comfortable handover radius (e.g. 5 km).</a:t>
            </a:r>
          </a:p>
          <a:p>
            <a:pPr>
              <a:spcAft>
                <a:spcPts val="800"/>
              </a:spcAft>
              <a:defRPr sz="1050">
                <a:solidFill>
                  <a:srgbClr val="171717"/>
                </a:solidFill>
                <a:latin typeface="Segoe UI"/>
              </a:defRPr>
            </a:pPr>
            <a:r>
              <a:t>•  Dual Checkout Selection: Buyer explicitly selects 'Agreed Public Point' or 'Nearby Direct Handover'.</a:t>
            </a:r>
          </a:p>
          <a:p>
            <a:pPr>
              <a:spcAft>
                <a:spcPts val="800"/>
              </a:spcAft>
              <a:defRPr sz="1050">
                <a:solidFill>
                  <a:srgbClr val="171717"/>
                </a:solidFill>
                <a:latin typeface="Segoe UI"/>
              </a:defRPr>
            </a:pPr>
            <a:r>
              <a:t>•  Visual Packaging Audit: Recipient inspects physical blister foil integrity at the moment of exchange.</a:t>
            </a:r>
          </a:p>
          <a:p>
            <a:pPr>
              <a:spcAft>
                <a:spcPts val="800"/>
              </a:spcAft>
              <a:defRPr sz="1050">
                <a:solidFill>
                  <a:srgbClr val="171717"/>
                </a:solidFill>
                <a:latin typeface="Segoe UI"/>
              </a:defRPr>
            </a:pPr>
            <a:r>
              <a:t>•  Transparent Platform Disclaimer: UI clearly states: 'MEDISAVE facilitates community matching; we do not operate a courier fleet.'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36192"/>
            <a:ext cx="4846320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Future Community Logistics Scope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Planned fulfillment expansions for institutional scaling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71717"/>
                </a:solidFill>
                <a:latin typeface="Segoe UI"/>
              </a:defRPr>
            </a:pPr>
            <a:r>
              <a:t>•  Campus Collection Hubs: Establishing drop-off points at PICT Health Center or Student Council Desk.</a:t>
            </a:r>
          </a:p>
          <a:p>
            <a:pPr>
              <a:spcAft>
                <a:spcPts val="800"/>
              </a:spcAft>
              <a:defRPr sz="1050">
                <a:solidFill>
                  <a:srgbClr val="171717"/>
                </a:solidFill>
                <a:latin typeface="Segoe UI"/>
              </a:defRPr>
            </a:pPr>
            <a:r>
              <a:t>•  Student Health Volunteers: Senior pharmacy/engineering volunteers assisting with peer package audits.</a:t>
            </a:r>
          </a:p>
          <a:p>
            <a:pPr>
              <a:spcAft>
                <a:spcPts val="800"/>
              </a:spcAft>
              <a:defRPr sz="1050">
                <a:solidFill>
                  <a:srgbClr val="171717"/>
                </a:solidFill>
                <a:latin typeface="Segoe UI"/>
              </a:defRPr>
            </a:pPr>
            <a:r>
              <a:t>•  Mutual Handover OTP: 4-digit mobile verification code exchanged during physical handover.</a:t>
            </a:r>
          </a:p>
          <a:p>
            <a:pPr>
              <a:spcAft>
                <a:spcPts val="800"/>
              </a:spcAft>
              <a:defRPr sz="1050">
                <a:solidFill>
                  <a:srgbClr val="171717"/>
                </a:solidFill>
                <a:latin typeface="Segoe UI"/>
              </a:defRPr>
            </a:pPr>
            <a:r>
              <a:t>•  Third-Party Hyperlocal Delivery: Optional integration with local on-demand delivery APIs as platform scales.</a:t>
            </a:r>
          </a:p>
          <a:p>
            <a:pPr>
              <a:spcAft>
                <a:spcPts val="800"/>
              </a:spcAft>
              <a:defRPr sz="1050">
                <a:solidFill>
                  <a:srgbClr val="171717"/>
                </a:solidFill>
                <a:latin typeface="Segoe UI"/>
              </a:defRPr>
            </a:pPr>
            <a:r>
              <a:t>•  Cold-Chain Tracking: Strict exclusion of biologics/insulins until certified cold-chain couriers exist.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Segoe UI"/>
              </a:defRPr>
            </a:pPr>
            <a:r>
              <a:t>MEDISAVE  •  Community Engagement Program (CEP)  •  PICT Pune  |  Slide 7 of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F4C42"/>
                </a:solidFill>
                <a:latin typeface="Segoe UI"/>
              </a:defRPr>
            </a:pPr>
            <a:r>
              <a:t>PRICING ARCHITECTURE  •  Speaker: Vidyang Wagh</a:t>
            </a:r>
          </a:p>
          <a:p>
            <a:pPr>
              <a:defRPr sz="2200" b="1">
                <a:solidFill>
                  <a:srgbClr val="171717"/>
                </a:solidFill>
                <a:latin typeface="Segoe UI"/>
              </a:defRPr>
            </a:pPr>
            <a:r>
              <a:t>The Medicine Pricing Dilemma in Community Exchanges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475488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3108960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Why Arbitrary Pricing Fails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If sellers set prices freely, commercial resellers might list expired or overpriced items, destroying community trust.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32004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Risk of commercial profiteering on donated medicines</a:t>
            </a:r>
          </a:p>
          <a:p>
            <a:pPr>
              <a:spcAft>
                <a:spcPts val="6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Inconsistent prices for identical formulations</a:t>
            </a:r>
          </a:p>
          <a:p>
            <a:pPr>
              <a:spcAft>
                <a:spcPts val="6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Lack of transparency on packaging &amp; shelf life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474720" cy="47548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108960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Why AI Cannot Decide Final Price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LLMs can hallucinate pharmaceutical pricing or suggest volatile market rates that violate community policies.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468880"/>
            <a:ext cx="32004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AI outputs are estimates, not legal pharmaceutical rates</a:t>
            </a:r>
          </a:p>
          <a:p>
            <a:pPr>
              <a:spcAft>
                <a:spcPts val="6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LLMs lack physical ground truth of box MRP</a:t>
            </a:r>
          </a:p>
          <a:p>
            <a:pPr>
              <a:spcAft>
                <a:spcPts val="6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Regulatory compliance demands deterministic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371600"/>
            <a:ext cx="3474720" cy="4754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536192"/>
            <a:ext cx="3108960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The MEDISAVE Deterministic Policy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Combine authoritative printed MRP + remaining shelf life + packaging condition into a transparent mathematical formula.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468880"/>
            <a:ext cx="32004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Authoritative printed MRP entered by donor</a:t>
            </a:r>
          </a:p>
          <a:p>
            <a:pPr>
              <a:spcAft>
                <a:spcPts val="6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Transparent discount brackets based on expiry date</a:t>
            </a:r>
          </a:p>
          <a:p>
            <a:pPr>
              <a:spcAft>
                <a:spcPts val="6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Hard server-side 85% price cap prevents abuse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Segoe UI"/>
              </a:defRPr>
            </a:pPr>
            <a:r>
              <a:t>MEDISAVE  •  Community Engagement Program (CEP)  •  PICT Pune  |  Slide 8 of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F4C42"/>
                </a:solidFill>
                <a:latin typeface="Segoe UI"/>
              </a:defRPr>
            </a:pPr>
            <a:r>
              <a:t>PRICING ENGINE  •  Speaker: Vidyang Wagh</a:t>
            </a:r>
          </a:p>
          <a:p>
            <a:pPr>
              <a:defRPr sz="2200" b="1">
                <a:solidFill>
                  <a:srgbClr val="171717"/>
                </a:solidFill>
                <a:latin typeface="Segoe UI"/>
              </a:defRPr>
            </a:pPr>
            <a:r>
              <a:t>Deterministic Community Pricing Policy &amp; Guardrails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728655" cy="1051560"/>
          </a:xfrm>
          <a:prstGeom prst="roundRect">
            <a:avLst/>
          </a:prstGeom>
          <a:solidFill>
            <a:srgbClr val="E8F3F1"/>
          </a:solidFill>
          <a:ln w="12700">
            <a:solidFill>
              <a:srgbClr val="0F4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90472"/>
            <a:ext cx="10362895" cy="722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MEDISAVE Transparent Pricing Formula: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Suggested Price = round( Printed MRP  ×  Expiry Multiplier  ×  Condition Factor 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2606040" cy="27432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79192"/>
            <a:ext cx="2240280" cy="2414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&gt; 12 Months Expiry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Multiplier: 0.60</a:t>
            </a:r>
            <a:br/>
            <a:r>
              <a:t>Community Savings: 40% 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93192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5A5A5A"/>
                </a:solidFill>
                <a:latin typeface="Segoe UI"/>
              </a:defRPr>
            </a:pPr>
            <a:r>
              <a:t>Long shelf life ensures extended safe usage buffer for recipient.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514600"/>
            <a:ext cx="2606040" cy="2743200"/>
          </a:xfrm>
          <a:prstGeom prst="roundRect">
            <a:avLst/>
          </a:prstGeom>
          <a:solidFill>
            <a:srgbClr val="E8F3F1"/>
          </a:solidFill>
          <a:ln w="12700">
            <a:solidFill>
              <a:srgbClr val="0F4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679192"/>
            <a:ext cx="2240280" cy="2414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6 – 12 Months Expiry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Multiplier: 0.50</a:t>
            </a:r>
            <a:br/>
            <a:r>
              <a:t>Community Savings: 50% 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93192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5A5A5A"/>
                </a:solidFill>
                <a:latin typeface="Segoe UI"/>
              </a:defRPr>
            </a:pPr>
            <a:r>
              <a:t>Standard shelf life for acute or regular course medications.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514600"/>
            <a:ext cx="2606040" cy="27432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679192"/>
            <a:ext cx="2240280" cy="2414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3 – 6 Months Expiry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Multiplier: 0.35</a:t>
            </a:r>
            <a:br/>
            <a:r>
              <a:t>Community Savings: 65% 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93192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5A5A5A"/>
                </a:solidFill>
                <a:latin typeface="Segoe UI"/>
              </a:defRPr>
            </a:pPr>
            <a:r>
              <a:t>Near-term window requires steep discount for rapid redistribution.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2514600"/>
            <a:ext cx="2606040" cy="274320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2679192"/>
            <a:ext cx="2240280" cy="2414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&lt; 90 Days Expiry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Multiplier: Ineligible</a:t>
            </a:r>
            <a:br/>
            <a:r>
              <a:t>Status: REJECTED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93192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5A5A5A"/>
                </a:solidFill>
                <a:latin typeface="Segoe UI"/>
              </a:defRPr>
            </a:pPr>
            <a:r>
              <a:t>Safety Policy: Medicines expiring within 90 days are strictly barred.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94960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559552"/>
            <a:ext cx="10362895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Server-Side Anti-Profiteering Cap (85% Maximum MRP Guardrail)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The backend strictly rejects any listing where Offered Price &gt; 0.85 × Printed MRP. Client price tampering is rejected with HTTP 400.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Segoe UI"/>
              </a:defRPr>
            </a:pPr>
            <a:r>
              <a:t>MEDISAVE  •  Community Engagement Program (CEP)  •  PICT Pune  |  Slide 9 of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F4C42"/>
                </a:solidFill>
                <a:latin typeface="Segoe UI"/>
              </a:defRPr>
            </a:pPr>
            <a:r>
              <a:t>AI ARCHITECTURE  •  Speaker: Vidyang Wagh</a:t>
            </a:r>
          </a:p>
          <a:p>
            <a:pPr>
              <a:defRPr sz="2200" b="1">
                <a:solidFill>
                  <a:srgbClr val="171717"/>
                </a:solidFill>
                <a:latin typeface="Segoe UI"/>
              </a:defRPr>
            </a:pPr>
            <a:r>
              <a:t>OpenRouter AI Integration: Identification Assistant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4846320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AI Capabilities (Assistant Role)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Normalizing complex pharmaceutical data during listing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Brand Name Normalization: Resolves typos &amp; alternate spellings (e.g. 'dolomide' → 'Dolomide').</a:t>
            </a:r>
          </a:p>
          <a:p>
            <a:pPr>
              <a:spcAft>
                <a:spcPts val="7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Generic Salt Formulation: Identifies active compounds (Paracetamol 500mg + Domperidone 10mg).</a:t>
            </a:r>
          </a:p>
          <a:p>
            <a:pPr>
              <a:spcAft>
                <a:spcPts val="7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Manufacturer Extraction: Identifies pharmaceutical firm (Micro Labs Ltd., GSK, Cipla).</a:t>
            </a:r>
          </a:p>
          <a:p>
            <a:pPr>
              <a:spcAft>
                <a:spcPts val="7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Dosage Form &amp; Packaging: Classifies Tablets, Capsules, Syrups, and standard pack strip quantities.</a:t>
            </a:r>
          </a:p>
          <a:p>
            <a:pPr>
              <a:spcAft>
                <a:spcPts val="7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Schedule H Classification: Identifies whether the medication mandates a registered prescription.</a:t>
            </a:r>
          </a:p>
          <a:p>
            <a:pPr>
              <a:spcAft>
                <a:spcPts val="7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Storage Guidance: Generates proper storage advisories (&lt;25°C, protect from moisture).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36192"/>
            <a:ext cx="4846320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Live AI Example: 'Dolo 650'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Structured metadata returned by AI endpoint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Medicine Brand: Dolo 650 Tablets</a:t>
            </a:r>
          </a:p>
          <a:p>
            <a:pPr>
              <a:spcAft>
                <a:spcPts val="5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Generic Salt: Paracetamol IP (650 mg)</a:t>
            </a:r>
          </a:p>
          <a:p>
            <a:pPr>
              <a:spcAft>
                <a:spcPts val="5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Manufacturer: Micro Labs Ltd.</a:t>
            </a:r>
          </a:p>
          <a:p>
            <a:pPr>
              <a:spcAft>
                <a:spcPts val="5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Therapeutic Category: Pain &amp; Fever</a:t>
            </a:r>
          </a:p>
          <a:p>
            <a:pPr>
              <a:spcAft>
                <a:spcPts val="5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Standard Packaging: 15 Tablets (1 strip)</a:t>
            </a:r>
          </a:p>
          <a:p>
            <a:pPr>
              <a:spcAft>
                <a:spcPts val="5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Prescription Classification: Over-The-Counter (OTC)</a:t>
            </a:r>
          </a:p>
          <a:p>
            <a:pPr>
              <a:spcAft>
                <a:spcPts val="5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Estimated Retail MRP: ~₹35 (Used as reference estimate)</a:t>
            </a:r>
          </a:p>
          <a:p>
            <a:pPr>
              <a:spcAft>
                <a:spcPts val="5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Suggested Community Price: ₹18 (Derived via deterministic policy)</a:t>
            </a:r>
          </a:p>
          <a:p>
            <a:pPr>
              <a:spcAft>
                <a:spcPts val="5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Storage Guidance: Store below 25°C away from direct sunlight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Segoe UI"/>
              </a:defRPr>
            </a:pPr>
            <a:r>
              <a:t>MEDISAVE  •  Community Engagement Program (CEP)  •  PICT Pune  |  Slide 10 of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F4C42"/>
                </a:solidFill>
                <a:latin typeface="Segoe UI"/>
              </a:defRPr>
            </a:pPr>
            <a:r>
              <a:t>AI ARCHITECTURE  •  Speaker: Vidyang Wagh</a:t>
            </a:r>
          </a:p>
          <a:p>
            <a:pPr>
              <a:defRPr sz="2200" b="1">
                <a:solidFill>
                  <a:srgbClr val="171717"/>
                </a:solidFill>
                <a:latin typeface="Segoe UI"/>
              </a:defRPr>
            </a:pPr>
            <a:r>
              <a:t>AI Robustness &amp; Zero-Downtime Offline Fallback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728655" cy="914400"/>
          </a:xfrm>
          <a:prstGeom prst="roundRect">
            <a:avLst/>
          </a:prstGeom>
          <a:solidFill>
            <a:srgbClr val="E8F3F1"/>
          </a:solidFill>
          <a:ln w="12700">
            <a:solidFill>
              <a:srgbClr val="0F4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90472"/>
            <a:ext cx="10362895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Judge Question Answered: What happens if AI gives wrong info or OpenRouter is offline?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AI outputs are suggestions requiring seller/admin confirmation; offline knowledge base activates on API failure.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52120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42032"/>
            <a:ext cx="4846320" cy="35112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Multi-Tier AI Validation Flow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Strict schema validation and safety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84632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1. Seller inputs medicine title on listing page.</a:t>
            </a:r>
          </a:p>
          <a:p>
            <a:pPr>
              <a:spcAft>
                <a:spcPts val="6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2. Express invokes aiMedicineService.js with structured schema prompt.</a:t>
            </a:r>
          </a:p>
          <a:p>
            <a:pPr>
              <a:spcAft>
                <a:spcPts val="6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3. OpenRouter LLM returns JSON (Gemini 2.0 Flash / Claude / LLaMA).</a:t>
            </a:r>
          </a:p>
          <a:p>
            <a:pPr>
              <a:spcAft>
                <a:spcPts val="6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4. Server validates JSON against allowed category and dosage enums.</a:t>
            </a:r>
          </a:p>
          <a:p>
            <a:pPr>
              <a:spcAft>
                <a:spcPts val="6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5. Seller verifies fields against physical packaging before submission.</a:t>
            </a:r>
          </a:p>
          <a:p>
            <a:pPr>
              <a:spcAft>
                <a:spcPts val="6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6. Coordinator reviews listing in admin queue before public marketplace release.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377440"/>
            <a:ext cx="5212080" cy="38404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542032"/>
            <a:ext cx="4846320" cy="35112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Offline Knowledge Base &amp; Heuristic Engine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Zero-downtime resilience when OpenRouter is unavailable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26080"/>
            <a:ext cx="484632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Curated Pharmaceutical Registry: Instant exact matching for core drugs (Dolo 650, Dolomide, Augmentin 625 Duo, Pantocid 40, Pan-D, Shelcal 500, Azee 500).</a:t>
            </a:r>
          </a:p>
          <a:p>
            <a:pPr>
              <a:spcAft>
                <a:spcPts val="6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Algorithmic Heuristics: Regex-based strength extractor (500mg, 650mg) and category classifier for unknown medicines.</a:t>
            </a:r>
          </a:p>
          <a:p>
            <a:pPr>
              <a:spcAft>
                <a:spcPts val="6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Zero API Dependency: Application functions completely offline or during OpenRouter rate limits.</a:t>
            </a:r>
          </a:p>
          <a:p>
            <a:pPr>
              <a:spcAft>
                <a:spcPts val="6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Verified Test Coverage: 12/12 automated AI fallback test cases passed.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Segoe UI"/>
              </a:defRPr>
            </a:pPr>
            <a:r>
              <a:t>MEDISAVE  •  Community Engagement Program (CEP)  •  PICT Pune  |  Slide 11 of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F4C42"/>
                </a:solidFill>
                <a:latin typeface="Segoe UI"/>
              </a:defRPr>
            </a:pPr>
            <a:r>
              <a:t>MEDICAL COMPLIANCE  •  Speaker: Darshan Solanke</a:t>
            </a:r>
          </a:p>
          <a:p>
            <a:pPr>
              <a:defRPr sz="2200" b="1">
                <a:solidFill>
                  <a:srgbClr val="171717"/>
                </a:solidFill>
                <a:latin typeface="Segoe UI"/>
              </a:defRPr>
            </a:pPr>
            <a:r>
              <a:t>Schedule H / H1 Prescription Verification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606040" cy="475488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2240280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1. Prescription Required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Medications with Schedule H classification cannot be checked out without an approved Rx document.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26080"/>
            <a:ext cx="233172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Antibiotics (Augmentin, Azee)</a:t>
            </a:r>
          </a:p>
          <a:p>
            <a:pPr>
              <a:spcAft>
                <a:spcPts val="6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Cardiovascular drugs (Telma)</a:t>
            </a:r>
          </a:p>
          <a:p>
            <a:pPr>
              <a:spcAft>
                <a:spcPts val="6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Anti-diabetic formulations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71600"/>
            <a:ext cx="2606040" cy="4754880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536192"/>
            <a:ext cx="2240280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2. Multi-Format Upload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Buyer uploads prescription document (PDF, JPG, PNG up to 5 MB) with patient metadata.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926080"/>
            <a:ext cx="233172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Multer file validation</a:t>
            </a:r>
          </a:p>
          <a:p>
            <a:pPr>
              <a:spcAft>
                <a:spcPts val="6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Safe server-generated IDs</a:t>
            </a:r>
          </a:p>
          <a:p>
            <a:pPr>
              <a:spcAft>
                <a:spcPts val="6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5 MB strict payload limit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71600"/>
            <a:ext cx="2606040" cy="47548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536192"/>
            <a:ext cx="2240280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3. Coordinator Audit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Coordinator reviews doctor registration number, patient name &amp; validity date in admin dashboard.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926080"/>
            <a:ext cx="233172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Private document stream</a:t>
            </a:r>
          </a:p>
          <a:p>
            <a:pPr>
              <a:spcAft>
                <a:spcPts val="6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Doctor registry check</a:t>
            </a:r>
          </a:p>
          <a:p>
            <a:pPr>
              <a:spcAft>
                <a:spcPts val="6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Optional future validUntil 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371600"/>
            <a:ext cx="2606040" cy="4754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1536192"/>
            <a:ext cx="2240280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4. Approval &amp; Checkout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Approved prescription unlocks checkout eligibility. Rejected documents record mandatory reason.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926080"/>
            <a:ext cx="233172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Single Rx covers multiple items</a:t>
            </a:r>
          </a:p>
          <a:p>
            <a:pPr>
              <a:spcAft>
                <a:spcPts val="6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Stock decrements atomically</a:t>
            </a:r>
          </a:p>
          <a:p>
            <a:pPr>
              <a:spcAft>
                <a:spcPts val="6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Expired Rx rejected at checkout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Segoe UI"/>
              </a:defRPr>
            </a:pPr>
            <a:r>
              <a:t>MEDISAVE  •  Community Engagement Program (CEP)  •  PICT Pune  |  Slide 12 of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F4C42"/>
                </a:solidFill>
                <a:latin typeface="Segoe UI"/>
              </a:defRPr>
            </a:pPr>
            <a:r>
              <a:t>SECURITY ENGINEERING  •  Speaker: Darshan Solanke</a:t>
            </a:r>
          </a:p>
          <a:p>
            <a:pPr>
              <a:defRPr sz="2200" b="1">
                <a:solidFill>
                  <a:srgbClr val="171717"/>
                </a:solidFill>
                <a:latin typeface="Segoe UI"/>
              </a:defRPr>
            </a:pPr>
            <a:r>
              <a:t>Security &amp; Patient Privacy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4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3108960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Authentication &amp; Access Control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JWT + bcrypt + Role-Based Access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32004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Stateless JWT token authentication with 7-day expiration</a:t>
            </a:r>
          </a:p>
          <a:p>
            <a:pPr>
              <a:spcAft>
                <a:spcPts val="7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Bcrypt salted password hashing (work factor 10)</a:t>
            </a:r>
          </a:p>
          <a:p>
            <a:pPr>
              <a:spcAft>
                <a:spcPts val="7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Role-Based Access Control: 'user' vs 'admin'</a:t>
            </a:r>
          </a:p>
          <a:p>
            <a:pPr>
              <a:spcAft>
                <a:spcPts val="7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Protected admin routes rejected with HTTP 403 for non-admins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108960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Document Privacy &amp; IDOR Defense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Private prescription streaming &amp; ownership isolation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468880"/>
            <a:ext cx="32004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Prescriptions strictly bound to authenticated buyer JWT ID</a:t>
            </a:r>
          </a:p>
          <a:p>
            <a:pPr>
              <a:spcAft>
                <a:spcPts val="7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Insecure Direct Object Reference (IDOR) prevention (403)</a:t>
            </a:r>
          </a:p>
          <a:p>
            <a:pPr>
              <a:spcAft>
                <a:spcPts val="7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Documents stored outside public static web roots</a:t>
            </a:r>
          </a:p>
          <a:p>
            <a:pPr>
              <a:spcAft>
                <a:spcPts val="7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Path traversal defense on authenticated file streaming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37160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536192"/>
            <a:ext cx="3108960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Input Validation &amp; Tamper Immunity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Server-side ground truth calculation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468880"/>
            <a:ext cx="32004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Client price spoofing overridden by database ground truth</a:t>
            </a:r>
          </a:p>
          <a:p>
            <a:pPr>
              <a:spcAft>
                <a:spcPts val="7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Seller ID strictly bound to authenticated donor</a:t>
            </a:r>
          </a:p>
          <a:p>
            <a:pPr>
              <a:spcAft>
                <a:spcPts val="7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Atomic stock decrement prevents overselling &amp; race conditions</a:t>
            </a:r>
          </a:p>
          <a:p>
            <a:pPr>
              <a:spcAft>
                <a:spcPts val="7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Zero tracked secrets (verified .gitignore &amp; .env.example)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Segoe UI"/>
              </a:defRPr>
            </a:pPr>
            <a:r>
              <a:t>MEDISAVE  •  Community Engagement Program (CEP)  •  PICT Pune  |  Slide 13 of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F4C42"/>
                </a:solidFill>
                <a:latin typeface="Segoe UI"/>
              </a:defRPr>
            </a:pPr>
            <a:r>
              <a:t>PLATFORM GOVERNANCE  •  Speaker: Darshan Solanke</a:t>
            </a:r>
          </a:p>
          <a:p>
            <a:pPr>
              <a:defRPr sz="2200" b="1">
                <a:solidFill>
                  <a:srgbClr val="171717"/>
                </a:solidFill>
                <a:latin typeface="Segoe UI"/>
              </a:defRPr>
            </a:pPr>
            <a:r>
              <a:t>Coordinator Moderation &amp; Oversight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728655" cy="914400"/>
          </a:xfrm>
          <a:prstGeom prst="roundRect">
            <a:avLst/>
          </a:prstGeom>
          <a:solidFill>
            <a:srgbClr val="E8F3F1"/>
          </a:solidFill>
          <a:ln w="12700">
            <a:solidFill>
              <a:srgbClr val="0F4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90472"/>
            <a:ext cx="10362895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Judge Question Answered: How do you prevent fake, expired, or unsafe medicine listings?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Dual-queue moderation workflow: All listings and prescriptions start as 'pending' until coordinator approval.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52120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42032"/>
            <a:ext cx="4846320" cy="35112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Medicine Listing Moderation Queue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Pre-approval audit before public marketplace indexing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84632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Pending Status Default: Newly submitted listings remain invisible to public marketplace.</a:t>
            </a:r>
          </a:p>
          <a:p>
            <a:pPr>
              <a:spcAft>
                <a:spcPts val="6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Physical Inspection Check: Coordinator audits batch number, expiry date (&gt;= 90 days), and packaging.</a:t>
            </a:r>
          </a:p>
          <a:p>
            <a:pPr>
              <a:spcAft>
                <a:spcPts val="6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Approval &amp; Rejection Actions: 1-click approval publishes listing; rejection requires documented reason.</a:t>
            </a:r>
          </a:p>
          <a:p>
            <a:pPr>
              <a:spcAft>
                <a:spcPts val="6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Rejection Reason Persistence: Donor sees why a listing was declined (e.g. damaged foil, illegible batch).</a:t>
            </a:r>
          </a:p>
          <a:p>
            <a:pPr>
              <a:spcAft>
                <a:spcPts val="6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Listing Deletion &amp; Ban: Permanent deletion for hazardous or illegal submissions.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377440"/>
            <a:ext cx="5212080" cy="3840480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542032"/>
            <a:ext cx="4846320" cy="35112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Prescription Verification Queue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Medical compliance audit for Schedule H requests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26080"/>
            <a:ext cx="484632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Document Review: Coordinator streams uploaded PDF/JPG within authenticated viewer.</a:t>
            </a:r>
          </a:p>
          <a:p>
            <a:pPr>
              <a:spcAft>
                <a:spcPts val="6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Doctor Registration Check: Cross-checks doctor registration number against registry.</a:t>
            </a:r>
          </a:p>
          <a:p>
            <a:pPr>
              <a:spcAft>
                <a:spcPts val="6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Validity Date Tagging: Admin can assign custom validUntil expiration dates.</a:t>
            </a:r>
          </a:p>
          <a:p>
            <a:pPr>
              <a:spcAft>
                <a:spcPts val="6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Rejection Transparency: Documents with expired doctor dates or mismatched patient names are flagged.</a:t>
            </a:r>
          </a:p>
          <a:p>
            <a:pPr>
              <a:spcAft>
                <a:spcPts val="6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Order Oversight: Complete audit trail of multi-seller transactions across Pune.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Segoe UI"/>
              </a:defRPr>
            </a:pPr>
            <a:r>
              <a:t>MEDISAVE  •  Community Engagement Program (CEP)  •  PICT Pune  |  Slide 14 of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F4C42"/>
                </a:solidFill>
                <a:latin typeface="Segoe UI"/>
              </a:defRPr>
            </a:pPr>
            <a:r>
              <a:t>TECHNICAL ARCHITECTURE  •  Speaker: Darshan Solanke</a:t>
            </a:r>
          </a:p>
          <a:p>
            <a:pPr>
              <a:defRPr sz="2200" b="1">
                <a:solidFill>
                  <a:srgbClr val="171717"/>
                </a:solidFill>
                <a:latin typeface="Segoe UI"/>
              </a:defRPr>
            </a:pPr>
            <a:r>
              <a:t>Full-Stack Technology Architecture (MERN)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606040" cy="4754880"/>
          </a:xfrm>
          <a:prstGeom prst="roundRect">
            <a:avLst/>
          </a:prstGeom>
          <a:solidFill>
            <a:srgbClr val="E8F3F1"/>
          </a:solidFill>
          <a:ln w="12700">
            <a:solidFill>
              <a:srgbClr val="0F4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2240280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Frontend Layer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React 19 + Vite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233172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React 19 single page application</a:t>
            </a:r>
          </a:p>
          <a:p>
            <a:pPr>
              <a:spcAft>
                <a:spcPts val="6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Vite 8.2 ultra-fast bundler</a:t>
            </a:r>
          </a:p>
          <a:p>
            <a:pPr>
              <a:spcAft>
                <a:spcPts val="6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Tailwind CSS custom design tokens</a:t>
            </a:r>
          </a:p>
          <a:p>
            <a:pPr>
              <a:spcAft>
                <a:spcPts val="6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React Router v7 client navigation</a:t>
            </a:r>
          </a:p>
          <a:p>
            <a:pPr>
              <a:spcAft>
                <a:spcPts val="6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Axios API client with interceptors</a:t>
            </a:r>
          </a:p>
          <a:p>
            <a:pPr>
              <a:spcAft>
                <a:spcPts val="6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Responsive desktop/mobile layouts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71600"/>
            <a:ext cx="2606040" cy="4754880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536192"/>
            <a:ext cx="2240280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Backend REST API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Node.js + Express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468880"/>
            <a:ext cx="233172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Express 5 RESTful routing</a:t>
            </a:r>
          </a:p>
          <a:p>
            <a:pPr>
              <a:spcAft>
                <a:spcPts val="6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JWT &amp; Bcrypt security middleware</a:t>
            </a:r>
          </a:p>
          <a:p>
            <a:pPr>
              <a:spcAft>
                <a:spcPts val="6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Multer multipart document parser</a:t>
            </a:r>
          </a:p>
          <a:p>
            <a:pPr>
              <a:spcAft>
                <a:spcPts val="6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Deterministic pricing engine</a:t>
            </a:r>
          </a:p>
          <a:p>
            <a:pPr>
              <a:spcAft>
                <a:spcPts val="6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Haversine proximity distance engine</a:t>
            </a:r>
          </a:p>
          <a:p>
            <a:pPr>
              <a:spcAft>
                <a:spcPts val="6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Automated regression test suites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71600"/>
            <a:ext cx="2606040" cy="4754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536192"/>
            <a:ext cx="2240280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Database Layer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MongoDB + Mongoose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468880"/>
            <a:ext cx="233172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Mongoose 8 object modeling</a:t>
            </a:r>
          </a:p>
          <a:p>
            <a:pPr>
              <a:spcAft>
                <a:spcPts val="6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Status &amp; locality indexing</a:t>
            </a:r>
          </a:p>
          <a:p>
            <a:pPr>
              <a:spcAft>
                <a:spcPts val="6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Atomic stock decrement transactions</a:t>
            </a:r>
          </a:p>
          <a:p>
            <a:pPr>
              <a:spcAft>
                <a:spcPts val="6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Dual-collection order architecture</a:t>
            </a:r>
          </a:p>
          <a:p>
            <a:pPr>
              <a:spcAft>
                <a:spcPts val="6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Locality coordinates schema</a:t>
            </a:r>
          </a:p>
          <a:p>
            <a:pPr>
              <a:spcAft>
                <a:spcPts val="6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Backfilled 111 seed medicines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371600"/>
            <a:ext cx="2606040" cy="47548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1536192"/>
            <a:ext cx="2240280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AI &amp; Intelligence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OpenRouter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468880"/>
            <a:ext cx="233172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Gemini 2.0 Flash / Claude / LLaMA</a:t>
            </a:r>
          </a:p>
          <a:p>
            <a:pPr>
              <a:spcAft>
                <a:spcPts val="6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Structured pharmaceutical JSON prompt</a:t>
            </a:r>
          </a:p>
          <a:p>
            <a:pPr>
              <a:spcAft>
                <a:spcPts val="6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Offline knowledge base fallback</a:t>
            </a:r>
          </a:p>
          <a:p>
            <a:pPr>
              <a:spcAft>
                <a:spcPts val="6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Heuristic dosage/salt regex parser</a:t>
            </a:r>
          </a:p>
          <a:p>
            <a:pPr>
              <a:spcAft>
                <a:spcPts val="6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Zero downtime on rate limits</a:t>
            </a:r>
          </a:p>
          <a:p>
            <a:pPr>
              <a:spcAft>
                <a:spcPts val="6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Deterministic policy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Segoe UI"/>
              </a:defRPr>
            </a:pPr>
            <a:r>
              <a:t>MEDISAVE  •  Community Engagement Program (CEP)  •  PICT Pune  |  Slide 15 of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F4C42"/>
                </a:solidFill>
                <a:latin typeface="Segoe UI"/>
              </a:defRPr>
            </a:pPr>
            <a:r>
              <a:t>QUALITY ASSURANCE  •  Speaker: Sumukh Bhat</a:t>
            </a:r>
          </a:p>
          <a:p>
            <a:pPr>
              <a:defRPr sz="2200" b="1">
                <a:solidFill>
                  <a:srgbClr val="171717"/>
                </a:solidFill>
                <a:latin typeface="Segoe UI"/>
              </a:defRPr>
            </a:pPr>
            <a:r>
              <a:t>Automated Verification &amp; Test Suite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606040" cy="15544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5803D"/>
                </a:solidFill>
                <a:latin typeface="Segoe UI"/>
              </a:defRPr>
            </a:pPr>
            <a:r>
              <a:t>369 / 369</a:t>
            </a:r>
          </a:p>
          <a:p>
            <a:pPr>
              <a:spcBef>
                <a:spcPts val="200"/>
              </a:spcBef>
              <a:defRPr sz="1100" b="1">
                <a:solidFill>
                  <a:srgbClr val="171717"/>
                </a:solidFill>
                <a:latin typeface="Segoe UI"/>
              </a:defRPr>
            </a:pPr>
            <a:r>
              <a:t>Automated Assertions</a:t>
            </a:r>
          </a:p>
          <a:p>
            <a:pPr>
              <a:defRPr sz="850">
                <a:solidFill>
                  <a:srgbClr val="5A5A5A"/>
                </a:solidFill>
                <a:latin typeface="Segoe UI"/>
              </a:defRPr>
            </a:pPr>
            <a:r>
              <a:t>100% Pass Rate across 12 backend test suites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371600"/>
            <a:ext cx="2606040" cy="1554480"/>
          </a:xfrm>
          <a:prstGeom prst="roundRect">
            <a:avLst/>
          </a:prstGeom>
          <a:solidFill>
            <a:srgbClr val="E8F3F1"/>
          </a:solidFill>
          <a:ln w="12700">
            <a:solidFill>
              <a:srgbClr val="0F4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50876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4C42"/>
                </a:solidFill>
                <a:latin typeface="Segoe UI"/>
              </a:defRPr>
            </a:pPr>
            <a:r>
              <a:t>0 / 0</a:t>
            </a:r>
          </a:p>
          <a:p>
            <a:pPr>
              <a:spcBef>
                <a:spcPts val="200"/>
              </a:spcBef>
              <a:defRPr sz="1100" b="1">
                <a:solidFill>
                  <a:srgbClr val="171717"/>
                </a:solidFill>
                <a:latin typeface="Segoe UI"/>
              </a:defRPr>
            </a:pPr>
            <a:r>
              <a:t>Linting Errors / Warnings</a:t>
            </a:r>
          </a:p>
          <a:p>
            <a:pPr>
              <a:defRPr sz="850">
                <a:solidFill>
                  <a:srgbClr val="5A5A5A"/>
                </a:solidFill>
                <a:latin typeface="Segoe UI"/>
              </a:defRPr>
            </a:pPr>
            <a:r>
              <a:t>ESLint clean across React frontend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2606040" cy="1554480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50876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21A8"/>
                </a:solidFill>
                <a:latin typeface="Segoe UI"/>
              </a:defRPr>
            </a:pPr>
            <a:r>
              <a:t>516 ms</a:t>
            </a:r>
          </a:p>
          <a:p>
            <a:pPr>
              <a:spcBef>
                <a:spcPts val="200"/>
              </a:spcBef>
              <a:defRPr sz="1100" b="1">
                <a:solidFill>
                  <a:srgbClr val="171717"/>
                </a:solidFill>
                <a:latin typeface="Segoe UI"/>
              </a:defRPr>
            </a:pPr>
            <a:r>
              <a:t>Production Build Time</a:t>
            </a:r>
          </a:p>
          <a:p>
            <a:pPr>
              <a:defRPr sz="850">
                <a:solidFill>
                  <a:srgbClr val="5A5A5A"/>
                </a:solidFill>
                <a:latin typeface="Segoe UI"/>
              </a:defRPr>
            </a:pPr>
            <a:r>
              <a:t>Vite production client compilation verified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371600"/>
            <a:ext cx="2606040" cy="15544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50876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45309"/>
                </a:solidFill>
                <a:latin typeface="Segoe UI"/>
              </a:defRPr>
            </a:pPr>
            <a:r>
              <a:t>101 Files</a:t>
            </a:r>
          </a:p>
          <a:p>
            <a:pPr>
              <a:spcBef>
                <a:spcPts val="200"/>
              </a:spcBef>
              <a:defRPr sz="1100" b="1">
                <a:solidFill>
                  <a:srgbClr val="171717"/>
                </a:solidFill>
                <a:latin typeface="Segoe UI"/>
              </a:defRPr>
            </a:pPr>
            <a:r>
              <a:t>Clean GitHub Release</a:t>
            </a:r>
          </a:p>
          <a:p>
            <a:pPr>
              <a:defRPr sz="850">
                <a:solidFill>
                  <a:srgbClr val="5A5A5A"/>
                </a:solidFill>
                <a:latin typeface="Segoe UI"/>
              </a:defRPr>
            </a:pPr>
            <a:r>
              <a:t>Zero committed secrets or .env leaks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10728655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73552"/>
            <a:ext cx="10362895" cy="2688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Verified Test Suites Breakdown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Executed against live local MongoDB &amp; Express environment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03320"/>
            <a:ext cx="50292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171717"/>
                </a:solidFill>
                <a:latin typeface="Segoe UI"/>
              </a:defRPr>
            </a:pPr>
            <a:r>
              <a:t>•  Locality &amp; Distance Engine: Haversine distance, proximity tiers, Katraj vs Hinjewadi (20.4km) -&gt; PASS (100%)</a:t>
            </a:r>
          </a:p>
          <a:p>
            <a:pPr>
              <a:spcAft>
                <a:spcPts val="400"/>
              </a:spcAft>
              <a:defRPr sz="900">
                <a:solidFill>
                  <a:srgbClr val="171717"/>
                </a:solidFill>
                <a:latin typeface="Segoe UI"/>
              </a:defRPr>
            </a:pPr>
            <a:r>
              <a:t>•  Deterministic Pricing Policy: 40%/50%/65% brackets, &lt;90-day rejection, 85% MRP cap -&gt; PASS (100%)</a:t>
            </a:r>
          </a:p>
          <a:p>
            <a:pPr>
              <a:spcAft>
                <a:spcPts val="400"/>
              </a:spcAft>
              <a:defRPr sz="900">
                <a:solidFill>
                  <a:srgbClr val="171717"/>
                </a:solidFill>
                <a:latin typeface="Segoe UI"/>
              </a:defRPr>
            </a:pPr>
            <a:r>
              <a:t>•  Pharma Knowledge Base &amp; AI Fallback: 12 pharmaceutical test cases with zero-downtime -&gt; PASS (12/12)</a:t>
            </a:r>
          </a:p>
          <a:p>
            <a:pPr>
              <a:spcAft>
                <a:spcPts val="400"/>
              </a:spcAft>
              <a:defRPr sz="900">
                <a:solidFill>
                  <a:srgbClr val="171717"/>
                </a:solidFill>
                <a:latin typeface="Segoe UI"/>
              </a:defRPr>
            </a:pPr>
            <a:r>
              <a:t>•  Admin Moderation Workflow: Role permissions, queue isolation, approval/rejection -&gt; PASS (27/27)</a:t>
            </a:r>
          </a:p>
          <a:p>
            <a:pPr>
              <a:spcAft>
                <a:spcPts val="400"/>
              </a:spcAft>
              <a:defRPr sz="900">
                <a:solidFill>
                  <a:srgbClr val="171717"/>
                </a:solidFill>
                <a:latin typeface="Segoe UI"/>
              </a:defRPr>
            </a:pPr>
            <a:r>
              <a:t>•  Seller Order Lifecycle: Status state transitions, multi-seller item isolation -&gt; PASS (37/37)</a:t>
            </a:r>
          </a:p>
          <a:p>
            <a:pPr>
              <a:spcAft>
                <a:spcPts val="400"/>
              </a:spcAft>
              <a:defRPr sz="900">
                <a:solidFill>
                  <a:srgbClr val="171717"/>
                </a:solidFill>
                <a:latin typeface="Segoe UI"/>
              </a:defRPr>
            </a:pPr>
            <a:r>
              <a:t>•  Cart &amp; Order API: Self-purchase blocked, DB price enforcement, inventory buyout -&gt; PASS (23/23)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703320"/>
            <a:ext cx="50292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171717"/>
                </a:solidFill>
                <a:latin typeface="Segoe UI"/>
              </a:defRPr>
            </a:pPr>
            <a:r>
              <a:t>•  Multi-Seller Cart E2E: Multi-donor orders, consolidated checkout, inventory recovery -&gt; PASS (13/13)</a:t>
            </a:r>
          </a:p>
          <a:p>
            <a:pPr>
              <a:spcAft>
                <a:spcPts val="400"/>
              </a:spcAft>
              <a:defRPr sz="900">
                <a:solidFill>
                  <a:srgbClr val="171717"/>
                </a:solidFill>
                <a:latin typeface="Segoe UI"/>
              </a:defRPr>
            </a:pPr>
            <a:r>
              <a:t>•  Prescription Model &amp; Validation: Mongoose constraints, required patient fields -&gt; PASS (13/13)</a:t>
            </a:r>
          </a:p>
          <a:p>
            <a:pPr>
              <a:spcAft>
                <a:spcPts val="400"/>
              </a:spcAft>
              <a:defRPr sz="900">
                <a:solidFill>
                  <a:srgbClr val="171717"/>
                </a:solidFill>
                <a:latin typeface="Segoe UI"/>
              </a:defRPr>
            </a:pPr>
            <a:r>
              <a:t>•  Prescription Upload Layer: PDF/JPG/PNG multi-format upload, 5MB limit, safe filenames -&gt; PASS (19/19)</a:t>
            </a:r>
          </a:p>
          <a:p>
            <a:pPr>
              <a:spcAft>
                <a:spcPts val="400"/>
              </a:spcAft>
              <a:defRPr sz="900">
                <a:solidFill>
                  <a:srgbClr val="171717"/>
                </a:solidFill>
                <a:latin typeface="Segoe UI"/>
              </a:defRPr>
            </a:pPr>
            <a:r>
              <a:t>•  Buyer Document Access: IDOR prevention, streaming headers, path traversal defense -&gt; PASS (30/30)</a:t>
            </a:r>
          </a:p>
          <a:p>
            <a:pPr>
              <a:spcAft>
                <a:spcPts val="400"/>
              </a:spcAft>
              <a:defRPr sz="900">
                <a:solidFill>
                  <a:srgbClr val="171717"/>
                </a:solidFill>
                <a:latin typeface="Segoe UI"/>
              </a:defRPr>
            </a:pPr>
            <a:r>
              <a:t>•  Admin Prescription Review: Approval with validUntil, rejection reasons, doc stream -&gt; PASS (48/48)</a:t>
            </a:r>
          </a:p>
          <a:p>
            <a:pPr>
              <a:spcAft>
                <a:spcPts val="400"/>
              </a:spcAft>
              <a:defRPr sz="900">
                <a:solidFill>
                  <a:srgbClr val="171717"/>
                </a:solidFill>
                <a:latin typeface="Segoe UI"/>
              </a:defRPr>
            </a:pPr>
            <a:r>
              <a:t>•  Prescription Checkout Security: Schedule H enforcement, price spoofing immunity -&gt; PASS (112/112)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Segoe UI"/>
              </a:defRPr>
            </a:pPr>
            <a:r>
              <a:t>MEDISAVE  •  Community Engagement Program (CEP)  •  PICT Pune  |  Slide 16 of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F4C42"/>
                </a:solidFill>
                <a:latin typeface="Segoe UI"/>
              </a:defRPr>
            </a:pPr>
            <a:r>
              <a:t>HONEST EVALUATION  •  Speaker: Sumukh Bhat</a:t>
            </a:r>
          </a:p>
          <a:p>
            <a:pPr>
              <a:defRPr sz="2200" b="1">
                <a:solidFill>
                  <a:srgbClr val="171717"/>
                </a:solidFill>
                <a:latin typeface="Segoe UI"/>
              </a:defRPr>
            </a:pPr>
            <a:r>
              <a:t>Real-World Limitations &amp; Prototype Boundaries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224028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310896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No Proprietary Delivery Fleet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MEDISAVE does not operate a delivery fleet. Transactions rely on mutual public point handover, campus collection hubs, or local transit.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474720" cy="22402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536192"/>
            <a:ext cx="310896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AI Assistance vs Human Verification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AI outputs are non-authoritative recommendations. Sellers and coordinators must physically inspect medicine foil packaging and expiry markings.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371600"/>
            <a:ext cx="3474720" cy="2240280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536192"/>
            <a:ext cx="310896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Prescription Coordinator Overhead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Schedule H verification currently requires manual coordinator review, which could become a bottleneck at high transaction volumes.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94760"/>
            <a:ext cx="3474720" cy="2240280"/>
          </a:xfrm>
          <a:prstGeom prst="roundRect">
            <a:avLst/>
          </a:prstGeom>
          <a:solidFill>
            <a:srgbClr val="E8F3F1"/>
          </a:solidFill>
          <a:ln w="12700">
            <a:solidFill>
              <a:srgbClr val="0F4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59352"/>
            <a:ext cx="310896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Exclusion of Cold-Chain Medicines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Biologics, vaccines, and insulins requiring strict 2–8°C refrigerated transport are intentionally barred from platform listing.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79476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3959352"/>
            <a:ext cx="310896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Academic Prototype Status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This is an academic CEP engineering prototype. Commercial deployment would require formal legal and drug controller regulatory approval.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379476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3959352"/>
            <a:ext cx="310896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Community Trust &amp; Adoption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Safe peer exchange relies on active community participation and mutual verification during physical handover.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Segoe UI"/>
              </a:defRPr>
            </a:pPr>
            <a:r>
              <a:t>MEDISAVE  •  Community Engagement Program (CEP)  •  PICT Pune  |  Slide 17 of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F4C42"/>
                </a:solidFill>
                <a:latin typeface="Segoe UI"/>
              </a:defRPr>
            </a:pPr>
            <a:r>
              <a:t>SCALABILITY ENGINEERING  •  Speaker: Sumukh Bhat</a:t>
            </a:r>
          </a:p>
          <a:p>
            <a:pPr>
              <a:defRPr sz="2200" b="1">
                <a:solidFill>
                  <a:srgbClr val="171717"/>
                </a:solidFill>
                <a:latin typeface="Segoe UI"/>
              </a:defRPr>
            </a:pPr>
            <a:r>
              <a:t>Scalability Architecture &amp;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4846320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Implemented Today (MVP Architecture)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Stable foundation validated in automated test suites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Stateless Express 5 REST API: Enables horizontal load distribution across multiple instances.</a:t>
            </a:r>
          </a:p>
          <a:p>
            <a:pPr>
              <a:spcAft>
                <a:spcPts val="8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Indexed MongoDB Collections: Compound indexes on status, locality, seller, and timestamps for sub-10ms queries.</a:t>
            </a:r>
          </a:p>
          <a:p>
            <a:pPr>
              <a:spcAft>
                <a:spcPts val="8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Local Isolated Document Storage: Private filesystem storage with authenticated streaming access.</a:t>
            </a:r>
          </a:p>
          <a:p>
            <a:pPr>
              <a:spcAft>
                <a:spcPts val="8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Deterministic Pune Locality Model: Pre-computed coordinates and Haversine proximity calculations.</a:t>
            </a:r>
          </a:p>
          <a:p>
            <a:pPr>
              <a:spcAft>
                <a:spcPts val="8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Offline Resilient AI Layer: Curated knowledge base prevents API dependency bottlenecks.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36192"/>
            <a:ext cx="4846320" cy="4425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Planned Future Architecture (Production Scale)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Engineering enhancements for institutional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Cloud Object Storage: AWS S3 / GCP Cloud Storage with encrypted short-lived signed URLs for prescriptions.</a:t>
            </a:r>
          </a:p>
          <a:p>
            <a:pPr>
              <a:spcAft>
                <a:spcPts val="8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Redis Caching Layer: High-speed caching for public medicine search and locality proximity lookups.</a:t>
            </a:r>
          </a:p>
          <a:p>
            <a:pPr>
              <a:spcAft>
                <a:spcPts val="8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Asynchronous Background Queues: BullMQ / Celery for automated donor email &amp; SMS handover notifications.</a:t>
            </a:r>
          </a:p>
          <a:p>
            <a:pPr>
              <a:spcAft>
                <a:spcPts val="8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OCR Prescription Extraction: Tesseract / Vision AI for automatic doctor registration number validation.</a:t>
            </a:r>
          </a:p>
          <a:p>
            <a:pPr>
              <a:spcAft>
                <a:spcPts val="800"/>
              </a:spcAft>
              <a:defRPr sz="1000">
                <a:solidFill>
                  <a:srgbClr val="171717"/>
                </a:solidFill>
                <a:latin typeface="Segoe UI"/>
              </a:defRPr>
            </a:pPr>
            <a:r>
              <a:t>•  Multi-City GeoJSON Sharding: Dynamic geo-fencing across Mumbai, Bangalore, and Delhi.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Segoe UI"/>
              </a:defRPr>
            </a:pPr>
            <a:r>
              <a:t>MEDISAVE  •  Community Engagement Program (CEP)  •  PICT Pune  |  Slide 18 of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F4C42"/>
                </a:solidFill>
                <a:latin typeface="Segoe UI"/>
              </a:defRPr>
            </a:pPr>
            <a:r>
              <a:t>COMMUNITY IMPACT  •  Speaker: Sumukh Bhat</a:t>
            </a:r>
          </a:p>
          <a:p>
            <a:pPr>
              <a:defRPr sz="2200" b="1">
                <a:solidFill>
                  <a:srgbClr val="171717"/>
                </a:solidFill>
                <a:latin typeface="Segoe UI"/>
              </a:defRPr>
            </a:pPr>
            <a:r>
              <a:t>Community Engagement Impact &amp; Stakeholder Value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57800" cy="2240280"/>
          </a:xfrm>
          <a:prstGeom prst="roundRect">
            <a:avLst/>
          </a:prstGeom>
          <a:solidFill>
            <a:srgbClr val="E8F3F1"/>
          </a:solidFill>
          <a:ln w="12700">
            <a:solidFill>
              <a:srgbClr val="0F4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489204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Medicine Donors / Sellers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Can responsibly list unexpired surplus medications, avoiding waste and contributing to community health equity.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4983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Simplified AI-assisted listing in under 2 minutes</a:t>
            </a:r>
          </a:p>
          <a:p>
            <a:pPr>
              <a:spcAft>
                <a:spcPts val="4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Transparent community pricing formula</a:t>
            </a:r>
          </a:p>
          <a:p>
            <a:pPr>
              <a:spcAft>
                <a:spcPts val="4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Flexible local handover point selection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257800" cy="22402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36192"/>
            <a:ext cx="489204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Recipients / Patients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Can discover verified unexpired medications at structured non-profit rates close to their residential locality.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286000"/>
            <a:ext cx="4983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Savings of 40%–65% compared to retail MRP</a:t>
            </a:r>
          </a:p>
          <a:p>
            <a:pPr>
              <a:spcAft>
                <a:spcPts val="4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Proximity transparency avoids distant trips</a:t>
            </a:r>
          </a:p>
          <a:p>
            <a:pPr>
              <a:spcAft>
                <a:spcPts val="4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Prescription security protects patient privacy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94760"/>
            <a:ext cx="5257800" cy="2240280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59352"/>
            <a:ext cx="489204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Campus Coordinators / Admins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Have centralized moderation tools to inspect listings, verify prescriptions, and oversee safe exchanges.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709160"/>
            <a:ext cx="4983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Dual-queue approval dashboard</a:t>
            </a:r>
          </a:p>
          <a:p>
            <a:pPr>
              <a:spcAft>
                <a:spcPts val="4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Detailed rejection reason tracking</a:t>
            </a:r>
          </a:p>
          <a:p>
            <a:pPr>
              <a:spcAft>
                <a:spcPts val="4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Complete transaction audit log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94760"/>
            <a:ext cx="5257800" cy="22402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59352"/>
            <a:ext cx="489204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College Campus / Community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Establishes a circular healthcare model reducing pharmaceutical pollution in urban wastewater.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709160"/>
            <a:ext cx="4983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Reduces unused medicine expiration in homes</a:t>
            </a:r>
          </a:p>
          <a:p>
            <a:pPr>
              <a:spcAft>
                <a:spcPts val="4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Promotes responsible medication reuse</a:t>
            </a:r>
          </a:p>
          <a:p>
            <a:pPr>
              <a:spcAft>
                <a:spcPts val="400"/>
              </a:spcAft>
              <a:defRPr sz="950">
                <a:solidFill>
                  <a:srgbClr val="171717"/>
                </a:solidFill>
                <a:latin typeface="Segoe UI"/>
              </a:defRPr>
            </a:pPr>
            <a:r>
              <a:t>•  Ideal for campus pilot health drives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Segoe UI"/>
              </a:defRPr>
            </a:pPr>
            <a:r>
              <a:t>MEDISAVE  •  Community Engagement Program (CEP)  •  PICT Pune  |  Slide 19 of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F4C42"/>
                </a:solidFill>
                <a:latin typeface="Segoe UI"/>
              </a:defRPr>
            </a:pPr>
            <a:r>
              <a:t>LIVE DEMONSTRATION  •  Speaker: Sumukh Bhat</a:t>
            </a:r>
          </a:p>
          <a:p>
            <a:pPr>
              <a:defRPr sz="2200" b="1">
                <a:solidFill>
                  <a:srgbClr val="171717"/>
                </a:solidFill>
                <a:latin typeface="Segoe UI"/>
              </a:defRPr>
            </a:pPr>
            <a:r>
              <a:t>Live Demonstration Walkthrough Sequence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1051560"/>
          </a:xfrm>
          <a:prstGeom prst="roundRect">
            <a:avLst/>
          </a:prstGeom>
          <a:solidFill>
            <a:srgbClr val="E8F3F1"/>
          </a:solidFill>
          <a:ln w="12700">
            <a:solidFill>
              <a:srgbClr val="0F4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10362895" cy="722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Step 1: Donor Listing Flow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List 'Dolomide' → AI autofills salt formulation → Enter MRP ₹68 &amp; Expiry → Deterministic suggested price ₹32 displayed with rationale → Submit to pending queue.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728655" cy="1051560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24912"/>
            <a:ext cx="10362895" cy="722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Step 2: Admin Moderation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Coordinator logs in → Inspects pending listing &amp; batch number → Approves listing → Moderates uploaded PDF prescription with validity date tagging.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10728655" cy="10515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13631"/>
            <a:ext cx="10362895" cy="722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Step 3: Buyer Discovery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Recipient selects locality 'Hinjewadi' → Views proximity badges ('Nearby · 2.1 km' vs 'Far from you · 20.4 km') → Sorts by 'Nearby First'.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37760"/>
            <a:ext cx="10728655" cy="10515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02352"/>
            <a:ext cx="10362895" cy="722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Step 4: Cart &amp; Handover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Add to multi-seller cart → Attach approved prescription → Select 'Agreed Public Point (College Gate)' → Place order with atomic stock decrement.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Segoe UI"/>
              </a:defRPr>
            </a:pPr>
            <a:r>
              <a:t>MEDISAVE  •  Community Engagement Program (CEP)  •  PICT Pune  |  Slide 20 of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4C42"/>
                </a:solidFill>
                <a:latin typeface="Segoe UI"/>
              </a:defRPr>
            </a:pPr>
            <a:r>
              <a:t>MEDISAVE: Summary &amp; Conclusion</a:t>
            </a:r>
          </a:p>
          <a:p>
            <a:pPr>
              <a:spcBef>
                <a:spcPts val="600"/>
              </a:spcBef>
              <a:defRPr sz="1400" b="1">
                <a:solidFill>
                  <a:srgbClr val="171717"/>
                </a:solidFill>
                <a:latin typeface="Segoe UI"/>
              </a:defRPr>
            </a:pPr>
            <a:r>
              <a:t>A community medicine exchange platform where discovery, verification, transparent pricing, and local coordination work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560320"/>
            <a:ext cx="3200400" cy="2011680"/>
          </a:xfrm>
          <a:prstGeom prst="roundRect">
            <a:avLst/>
          </a:prstGeom>
          <a:solidFill>
            <a:srgbClr val="E8F3F1"/>
          </a:solidFill>
          <a:ln w="12700">
            <a:solidFill>
              <a:srgbClr val="0F4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724912"/>
            <a:ext cx="2834640" cy="1682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Proximity-Aware Handover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Deterministic Haversine distance solves the Katraj vs Hinjewadi challenge without unrealistic courier claims.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560320"/>
            <a:ext cx="3200400" cy="20116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724912"/>
            <a:ext cx="2834640" cy="1682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Deterministic Pricing Engine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Mathematical shelf-life formulas and server-side 85% MRP cap ensure fair non-profit community pricing.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560320"/>
            <a:ext cx="3200400" cy="2011680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0" y="2724912"/>
            <a:ext cx="2834640" cy="1682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Verified Compliance &amp; Security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Schedule H prescription verification, authenticated document streaming, and 369 automated test assertions.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54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4C42"/>
                </a:solidFill>
                <a:latin typeface="Segoe UI"/>
              </a:defRPr>
            </a:pPr>
            <a:r>
              <a:t>GitHub Repository: https://github.com/Vidyang07/medisave</a:t>
            </a:r>
          </a:p>
          <a:p>
            <a:pPr>
              <a:spcBef>
                <a:spcPts val="400"/>
              </a:spcBef>
              <a:defRPr sz="1000">
                <a:solidFill>
                  <a:srgbClr val="5A5A5A"/>
                </a:solidFill>
                <a:latin typeface="Segoe UI"/>
              </a:defRPr>
            </a:pPr>
            <a:r>
              <a:t>Team: Ronit Subhedar (21270), Vidyang Wagh (21282), Darshan Solanke (21269), Sumukh Bhat (21271)  |  PICT Pune  •  SY 2 (H2)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Segoe UI"/>
              </a:defRPr>
            </a:pPr>
            <a:r>
              <a:t>MEDISAVE  •  Community Engagement Program (CEP)  •  PICT Pune  |  Slide 21 of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F4C42"/>
                </a:solidFill>
                <a:latin typeface="Segoe UI"/>
              </a:defRPr>
            </a:pPr>
            <a:r>
              <a:t>JUDGE PREPARATION  •  All Team Members</a:t>
            </a:r>
          </a:p>
          <a:p>
            <a:pPr>
              <a:defRPr sz="2200" b="1">
                <a:solidFill>
                  <a:srgbClr val="171717"/>
                </a:solidFill>
                <a:latin typeface="Segoe UI"/>
              </a:defRPr>
            </a:pPr>
            <a:r>
              <a:t>Evaluation Committee Q&amp;A Reference Guide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578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4892040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Q1: Katraj ↔ Hinjewadi Delivery?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We do not operate a courier fleet. Proximity engine tags it as 'Far from you (20.4 km)' and prioritizes closer listings (Katraj ↔ Bibvewadi = 2.1 km) for public landmark handover.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71600"/>
            <a:ext cx="52578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536192"/>
            <a:ext cx="4892040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Q2: How is Price Decided?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Deterministic policy based on printed MRP and remaining shelf life (&gt;12 mo = 40% off, 6-12 mo = 50% off, 3-6 mo = 65% off, &lt;90 days = rejected) with an 85% maximum MRP cap.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52578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36392"/>
            <a:ext cx="4892040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Q3: What if AI is Wrong/Offline?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AI is strictly an assistant for name normalization. Printed MRP is ground truth. Offline pharmaceutical knowledge base activates instantly on API failure (12/12 tested).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971800"/>
            <a:ext cx="52578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136392"/>
            <a:ext cx="4892040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Q4: Prescription Safety (Rx)?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Schedule H drugs require coordinator review of uploaded doctor prescriptions (PDF/JPG/PNG &lt;= 5MB) before checkout. IDOR protected and privately streamed.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52578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36592"/>
            <a:ext cx="4892040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Q5: Preventing Fake Listings?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Dual moderation queue: Listings default to 'pending' and are hidden from buyers until coordinator audits batch number, expiry date (&gt;= 90 days), and seal condition.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572000"/>
            <a:ext cx="52578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736592"/>
            <a:ext cx="4892040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1717"/>
                </a:solidFill>
                <a:latin typeface="Segoe UI"/>
              </a:defRPr>
            </a:pPr>
            <a:r>
              <a:t>Q6: Prototype vs Production?</a:t>
            </a:r>
          </a:p>
          <a:p>
            <a:pPr>
              <a:defRPr sz="1000">
                <a:solidFill>
                  <a:srgbClr val="5A5A5A"/>
                </a:solidFill>
                <a:latin typeface="Segoe UI"/>
              </a:defRPr>
            </a:pPr>
            <a:r>
              <a:t>This is an academic CEP prototype. Real-world deployment would require drug controller regulatory approval, cloud storage (S3), and campus health center collection hubs.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Segoe UI"/>
              </a:defRPr>
            </a:pPr>
            <a:r>
              <a:t>MEDISAVE  •  Community Engagement Program (CEP)  •  PICT Pune  |  Slide 22 of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